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76" r:id="rId4"/>
    <p:sldId id="263" r:id="rId5"/>
    <p:sldId id="257" r:id="rId6"/>
    <p:sldId id="258" r:id="rId7"/>
    <p:sldId id="266" r:id="rId8"/>
    <p:sldId id="268" r:id="rId9"/>
    <p:sldId id="265" r:id="rId10"/>
    <p:sldId id="260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F3830-E145-4E08-AB5D-FC6BD58189DF}" v="12" dt="2025-10-04T12:11:4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redo custSel addSld delSld modSld sldOrd">
      <pc:chgData name="Jonathan Bollig" userId="8b5d0afe-f106-45e0-8c3f-fd98fa124db1" providerId="ADAL" clId="{B2469FA9-EBD8-4834-A16D-CBF8EFC907DD}" dt="2025-10-04T14:10:09.246" v="1446" actId="20577"/>
      <pc:docMkLst>
        <pc:docMk/>
      </pc:docMkLst>
      <pc:sldChg chg="modSp mod">
        <pc:chgData name="Jonathan Bollig" userId="8b5d0afe-f106-45e0-8c3f-fd98fa124db1" providerId="ADAL" clId="{B2469FA9-EBD8-4834-A16D-CBF8EFC907DD}" dt="2025-10-04T14:10:09.246" v="1446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0:09.246" v="1446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modSp mod">
        <pc:chgData name="Jonathan Bollig" userId="8b5d0afe-f106-45e0-8c3f-fd98fa124db1" providerId="ADAL" clId="{B2469FA9-EBD8-4834-A16D-CBF8EFC907DD}" dt="2025-09-29T16:07:40.229" v="619" actId="20577"/>
        <pc:sldMkLst>
          <pc:docMk/>
          <pc:sldMk cId="3656329933" sldId="257"/>
        </pc:sldMkLst>
        <pc:spChg chg="mod">
          <ac:chgData name="Jonathan Bollig" userId="8b5d0afe-f106-45e0-8c3f-fd98fa124db1" providerId="ADAL" clId="{B2469FA9-EBD8-4834-A16D-CBF8EFC907DD}" dt="2025-09-29T16:07:40.229" v="619" actId="20577"/>
          <ac:spMkLst>
            <pc:docMk/>
            <pc:sldMk cId="3656329933" sldId="257"/>
            <ac:spMk id="3" creationId="{916BD547-131A-7854-8F80-981FAD9C3A75}"/>
          </ac:spMkLst>
        </pc:spChg>
      </pc:sldChg>
      <pc:sldChg chg="modSp mod modNotesTx">
        <pc:chgData name="Jonathan Bollig" userId="8b5d0afe-f106-45e0-8c3f-fd98fa124db1" providerId="ADAL" clId="{B2469FA9-EBD8-4834-A16D-CBF8EFC907DD}" dt="2025-10-01T17:54:18.166" v="1428" actId="20577"/>
        <pc:sldMkLst>
          <pc:docMk/>
          <pc:sldMk cId="544279955" sldId="258"/>
        </pc:sldMkLst>
        <pc:spChg chg="mod">
          <ac:chgData name="Jonathan Bollig" userId="8b5d0afe-f106-45e0-8c3f-fd98fa124db1" providerId="ADAL" clId="{B2469FA9-EBD8-4834-A16D-CBF8EFC907DD}" dt="2025-10-01T17:54:18.166" v="1428" actId="20577"/>
          <ac:spMkLst>
            <pc:docMk/>
            <pc:sldMk cId="544279955" sldId="258"/>
            <ac:spMk id="3" creationId="{A2763ED7-8DD3-93DC-2F3B-D6B7FEB3B367}"/>
          </ac:spMkLst>
        </pc:spChg>
      </pc:sldChg>
      <pc:sldChg chg="modSp del mod">
        <pc:chgData name="Jonathan Bollig" userId="8b5d0afe-f106-45e0-8c3f-fd98fa124db1" providerId="ADAL" clId="{B2469FA9-EBD8-4834-A16D-CBF8EFC907DD}" dt="2025-09-29T15:51:36.828" v="600" actId="2696"/>
        <pc:sldMkLst>
          <pc:docMk/>
          <pc:sldMk cId="2169503629" sldId="259"/>
        </pc:sldMkLst>
      </pc:sldChg>
      <pc:sldChg chg="modSp mod modNotesTx">
        <pc:chgData name="Jonathan Bollig" userId="8b5d0afe-f106-45e0-8c3f-fd98fa124db1" providerId="ADAL" clId="{B2469FA9-EBD8-4834-A16D-CBF8EFC907DD}" dt="2025-09-29T17:44:30.641" v="1240" actId="20577"/>
        <pc:sldMkLst>
          <pc:docMk/>
          <pc:sldMk cId="847849653" sldId="261"/>
        </pc:sldMkLst>
        <pc:spChg chg="mod">
          <ac:chgData name="Jonathan Bollig" userId="8b5d0afe-f106-45e0-8c3f-fd98fa124db1" providerId="ADAL" clId="{B2469FA9-EBD8-4834-A16D-CBF8EFC907DD}" dt="2025-09-29T15:41:44.840" v="256" actId="313"/>
          <ac:spMkLst>
            <pc:docMk/>
            <pc:sldMk cId="847849653" sldId="261"/>
            <ac:spMk id="3" creationId="{F23B0E58-0247-CC0D-FAF1-6C07DEF24B2C}"/>
          </ac:spMkLst>
        </pc:spChg>
      </pc:sldChg>
      <pc:sldChg chg="del">
        <pc:chgData name="Jonathan Bollig" userId="8b5d0afe-f106-45e0-8c3f-fd98fa124db1" providerId="ADAL" clId="{B2469FA9-EBD8-4834-A16D-CBF8EFC907DD}" dt="2025-10-02T19:17:39.055" v="1430" actId="47"/>
        <pc:sldMkLst>
          <pc:docMk/>
          <pc:sldMk cId="1908144578" sldId="262"/>
        </pc:sldMkLst>
      </pc:sldChg>
      <pc:sldChg chg="addSp modSp mod modNotesTx">
        <pc:chgData name="Jonathan Bollig" userId="8b5d0afe-f106-45e0-8c3f-fd98fa124db1" providerId="ADAL" clId="{B2469FA9-EBD8-4834-A16D-CBF8EFC907DD}" dt="2025-09-29T15:16:07.511" v="171" actId="20577"/>
        <pc:sldMkLst>
          <pc:docMk/>
          <pc:sldMk cId="4076698392" sldId="263"/>
        </pc:sldMkLst>
        <pc:spChg chg="mod">
          <ac:chgData name="Jonathan Bollig" userId="8b5d0afe-f106-45e0-8c3f-fd98fa124db1" providerId="ADAL" clId="{B2469FA9-EBD8-4834-A16D-CBF8EFC907DD}" dt="2025-09-29T15:15:51.256" v="125" actId="20577"/>
          <ac:spMkLst>
            <pc:docMk/>
            <pc:sldMk cId="4076698392" sldId="263"/>
            <ac:spMk id="2" creationId="{36F774F8-2673-7049-4BB0-783ED8BD9462}"/>
          </ac:spMkLst>
        </pc:spChg>
        <pc:spChg chg="mod">
          <ac:chgData name="Jonathan Bollig" userId="8b5d0afe-f106-45e0-8c3f-fd98fa124db1" providerId="ADAL" clId="{B2469FA9-EBD8-4834-A16D-CBF8EFC907DD}" dt="2025-09-29T15:15:57.878" v="128" actId="5793"/>
          <ac:spMkLst>
            <pc:docMk/>
            <pc:sldMk cId="4076698392" sldId="263"/>
            <ac:spMk id="3" creationId="{537F985A-F858-DACA-53BD-4F162A20569B}"/>
          </ac:spMkLst>
        </pc:spChg>
        <pc:picChg chg="add mod">
          <ac:chgData name="Jonathan Bollig" userId="8b5d0afe-f106-45e0-8c3f-fd98fa124db1" providerId="ADAL" clId="{B2469FA9-EBD8-4834-A16D-CBF8EFC907DD}" dt="2025-09-29T15:15:56.391" v="126" actId="1076"/>
          <ac:picMkLst>
            <pc:docMk/>
            <pc:sldMk cId="4076698392" sldId="263"/>
            <ac:picMk id="5" creationId="{6C3374D0-E3F6-894D-5935-6CAFCEECA4E3}"/>
          </ac:picMkLst>
        </pc:picChg>
      </pc:sldChg>
      <pc:sldChg chg="del">
        <pc:chgData name="Jonathan Bollig" userId="8b5d0afe-f106-45e0-8c3f-fd98fa124db1" providerId="ADAL" clId="{B2469FA9-EBD8-4834-A16D-CBF8EFC907DD}" dt="2025-09-29T15:36:14.654" v="211" actId="47"/>
        <pc:sldMkLst>
          <pc:docMk/>
          <pc:sldMk cId="3708449378" sldId="264"/>
        </pc:sldMkLst>
      </pc:sldChg>
      <pc:sldChg chg="modSp mod">
        <pc:chgData name="Jonathan Bollig" userId="8b5d0afe-f106-45e0-8c3f-fd98fa124db1" providerId="ADAL" clId="{B2469FA9-EBD8-4834-A16D-CBF8EFC907DD}" dt="2025-09-29T18:41:22.105" v="1362" actId="20577"/>
        <pc:sldMkLst>
          <pc:docMk/>
          <pc:sldMk cId="933916611" sldId="265"/>
        </pc:sldMkLst>
        <pc:spChg chg="mod">
          <ac:chgData name="Jonathan Bollig" userId="8b5d0afe-f106-45e0-8c3f-fd98fa124db1" providerId="ADAL" clId="{B2469FA9-EBD8-4834-A16D-CBF8EFC907DD}" dt="2025-09-29T18:41:22.105" v="1362" actId="20577"/>
          <ac:spMkLst>
            <pc:docMk/>
            <pc:sldMk cId="933916611" sldId="265"/>
            <ac:spMk id="3" creationId="{60E3EC33-0879-A7FD-D5AB-59D7A4D98CA5}"/>
          </ac:spMkLst>
        </pc:spChg>
      </pc:sldChg>
      <pc:sldChg chg="modSp mod">
        <pc:chgData name="Jonathan Bollig" userId="8b5d0afe-f106-45e0-8c3f-fd98fa124db1" providerId="ADAL" clId="{B2469FA9-EBD8-4834-A16D-CBF8EFC907DD}" dt="2025-10-01T14:57:26.302" v="1378" actId="20577"/>
        <pc:sldMkLst>
          <pc:docMk/>
          <pc:sldMk cId="2117799034" sldId="266"/>
        </pc:sldMkLst>
        <pc:spChg chg="mod">
          <ac:chgData name="Jonathan Bollig" userId="8b5d0afe-f106-45e0-8c3f-fd98fa124db1" providerId="ADAL" clId="{B2469FA9-EBD8-4834-A16D-CBF8EFC907DD}" dt="2025-10-01T14:57:26.302" v="1378" actId="20577"/>
          <ac:spMkLst>
            <pc:docMk/>
            <pc:sldMk cId="2117799034" sldId="266"/>
            <ac:spMk id="2" creationId="{1A0CB61D-ECBB-25DD-17DA-9649B76D61CA}"/>
          </ac:spMkLst>
        </pc:spChg>
      </pc:sldChg>
      <pc:sldChg chg="modSp add mod ord">
        <pc:chgData name="Jonathan Bollig" userId="8b5d0afe-f106-45e0-8c3f-fd98fa124db1" providerId="ADAL" clId="{B2469FA9-EBD8-4834-A16D-CBF8EFC907DD}" dt="2025-10-01T15:01:09.774" v="1382"/>
        <pc:sldMkLst>
          <pc:docMk/>
          <pc:sldMk cId="3451195334" sldId="267"/>
        </pc:sldMkLst>
        <pc:spChg chg="mod">
          <ac:chgData name="Jonathan Bollig" userId="8b5d0afe-f106-45e0-8c3f-fd98fa124db1" providerId="ADAL" clId="{B2469FA9-EBD8-4834-A16D-CBF8EFC907DD}" dt="2025-09-29T15:49:16.958" v="398" actId="20577"/>
          <ac:spMkLst>
            <pc:docMk/>
            <pc:sldMk cId="3451195334" sldId="267"/>
            <ac:spMk id="2" creationId="{8F13651F-7B74-DB05-1685-E229EF6B8760}"/>
          </ac:spMkLst>
        </pc:spChg>
        <pc:spChg chg="mod">
          <ac:chgData name="Jonathan Bollig" userId="8b5d0afe-f106-45e0-8c3f-fd98fa124db1" providerId="ADAL" clId="{B2469FA9-EBD8-4834-A16D-CBF8EFC907DD}" dt="2025-09-29T17:41:36.770" v="1076" actId="20577"/>
          <ac:spMkLst>
            <pc:docMk/>
            <pc:sldMk cId="3451195334" sldId="267"/>
            <ac:spMk id="3" creationId="{DFB8E70D-A568-FBF8-1AA6-CC5310DE9949}"/>
          </ac:spMkLst>
        </pc:spChg>
      </pc:sldChg>
      <pc:sldChg chg="modSp new del mod">
        <pc:chgData name="Jonathan Bollig" userId="8b5d0afe-f106-45e0-8c3f-fd98fa124db1" providerId="ADAL" clId="{B2469FA9-EBD8-4834-A16D-CBF8EFC907DD}" dt="2025-09-29T15:49:06.613" v="381" actId="2696"/>
        <pc:sldMkLst>
          <pc:docMk/>
          <pc:sldMk cId="4065808971" sldId="267"/>
        </pc:sldMkLst>
      </pc:sldChg>
      <pc:sldChg chg="modSp new mod">
        <pc:chgData name="Jonathan Bollig" userId="8b5d0afe-f106-45e0-8c3f-fd98fa124db1" providerId="ADAL" clId="{B2469FA9-EBD8-4834-A16D-CBF8EFC907DD}" dt="2025-09-29T17:56:24.118" v="1320" actId="20577"/>
        <pc:sldMkLst>
          <pc:docMk/>
          <pc:sldMk cId="3382580532" sldId="268"/>
        </pc:sldMkLst>
        <pc:spChg chg="mod">
          <ac:chgData name="Jonathan Bollig" userId="8b5d0afe-f106-45e0-8c3f-fd98fa124db1" providerId="ADAL" clId="{B2469FA9-EBD8-4834-A16D-CBF8EFC907DD}" dt="2025-09-29T16:22:41.230" v="652" actId="20577"/>
          <ac:spMkLst>
            <pc:docMk/>
            <pc:sldMk cId="3382580532" sldId="268"/>
            <ac:spMk id="2" creationId="{F42B4686-D66D-085E-58BD-3268260F19C9}"/>
          </ac:spMkLst>
        </pc:spChg>
        <pc:spChg chg="mod">
          <ac:chgData name="Jonathan Bollig" userId="8b5d0afe-f106-45e0-8c3f-fd98fa124db1" providerId="ADAL" clId="{B2469FA9-EBD8-4834-A16D-CBF8EFC907DD}" dt="2025-09-29T17:56:24.118" v="1320" actId="20577"/>
          <ac:spMkLst>
            <pc:docMk/>
            <pc:sldMk cId="3382580532" sldId="268"/>
            <ac:spMk id="3" creationId="{2842771F-DF04-1174-3FF8-EF82B9BFC714}"/>
          </ac:spMkLst>
        </pc:spChg>
      </pc:sldChg>
      <pc:sldChg chg="add">
        <pc:chgData name="Jonathan Bollig" userId="8b5d0afe-f106-45e0-8c3f-fd98fa124db1" providerId="ADAL" clId="{B2469FA9-EBD8-4834-A16D-CBF8EFC907DD}" dt="2025-09-29T18:20:48.346" v="1345"/>
        <pc:sldMkLst>
          <pc:docMk/>
          <pc:sldMk cId="3924192240" sldId="269"/>
        </pc:sldMkLst>
      </pc:sldChg>
      <pc:sldChg chg="add">
        <pc:chgData name="Jonathan Bollig" userId="8b5d0afe-f106-45e0-8c3f-fd98fa124db1" providerId="ADAL" clId="{B2469FA9-EBD8-4834-A16D-CBF8EFC907DD}" dt="2025-09-29T18:20:48.346" v="1345"/>
        <pc:sldMkLst>
          <pc:docMk/>
          <pc:sldMk cId="2840772141" sldId="270"/>
        </pc:sldMkLst>
      </pc:sldChg>
      <pc:sldChg chg="add">
        <pc:chgData name="Jonathan Bollig" userId="8b5d0afe-f106-45e0-8c3f-fd98fa124db1" providerId="ADAL" clId="{B2469FA9-EBD8-4834-A16D-CBF8EFC907DD}" dt="2025-09-29T18:20:48.346" v="1345"/>
        <pc:sldMkLst>
          <pc:docMk/>
          <pc:sldMk cId="1607198218" sldId="271"/>
        </pc:sldMkLst>
      </pc:sldChg>
      <pc:sldChg chg="modSp add mod">
        <pc:chgData name="Jonathan Bollig" userId="8b5d0afe-f106-45e0-8c3f-fd98fa124db1" providerId="ADAL" clId="{B2469FA9-EBD8-4834-A16D-CBF8EFC907DD}" dt="2025-10-01T15:01:53.856" v="1385" actId="1440"/>
        <pc:sldMkLst>
          <pc:docMk/>
          <pc:sldMk cId="2659859781" sldId="272"/>
        </pc:sldMkLst>
        <pc:picChg chg="mod">
          <ac:chgData name="Jonathan Bollig" userId="8b5d0afe-f106-45e0-8c3f-fd98fa124db1" providerId="ADAL" clId="{B2469FA9-EBD8-4834-A16D-CBF8EFC907DD}" dt="2025-10-01T15:01:53.856" v="1385" actId="1440"/>
          <ac:picMkLst>
            <pc:docMk/>
            <pc:sldMk cId="2659859781" sldId="272"/>
            <ac:picMk id="16" creationId="{863E4BAE-12E1-00C4-5E3F-35600427034F}"/>
          </ac:picMkLst>
        </pc:picChg>
      </pc:sldChg>
      <pc:sldChg chg="add">
        <pc:chgData name="Jonathan Bollig" userId="8b5d0afe-f106-45e0-8c3f-fd98fa124db1" providerId="ADAL" clId="{B2469FA9-EBD8-4834-A16D-CBF8EFC907DD}" dt="2025-09-29T18:20:48.346" v="1345"/>
        <pc:sldMkLst>
          <pc:docMk/>
          <pc:sldMk cId="645205521" sldId="273"/>
        </pc:sldMkLst>
      </pc:sldChg>
      <pc:sldChg chg="add">
        <pc:chgData name="Jonathan Bollig" userId="8b5d0afe-f106-45e0-8c3f-fd98fa124db1" providerId="ADAL" clId="{B2469FA9-EBD8-4834-A16D-CBF8EFC907DD}" dt="2025-09-29T18:20:48.346" v="1345"/>
        <pc:sldMkLst>
          <pc:docMk/>
          <pc:sldMk cId="3843980456" sldId="274"/>
        </pc:sldMkLst>
      </pc:sldChg>
      <pc:sldChg chg="addSp delSp modSp add mod">
        <pc:chgData name="Jonathan Bollig" userId="8b5d0afe-f106-45e0-8c3f-fd98fa124db1" providerId="ADAL" clId="{B2469FA9-EBD8-4834-A16D-CBF8EFC907DD}" dt="2025-10-04T12:11:52.878" v="1444" actId="1076"/>
        <pc:sldMkLst>
          <pc:docMk/>
          <pc:sldMk cId="1896963193" sldId="275"/>
        </pc:sldMkLst>
        <pc:spChg chg="add mod">
          <ac:chgData name="Jonathan Bollig" userId="8b5d0afe-f106-45e0-8c3f-fd98fa124db1" providerId="ADAL" clId="{B2469FA9-EBD8-4834-A16D-CBF8EFC907DD}" dt="2025-10-04T12:11:52.878" v="1444" actId="1076"/>
          <ac:spMkLst>
            <pc:docMk/>
            <pc:sldMk cId="1896963193" sldId="275"/>
            <ac:spMk id="13" creationId="{26817064-AAD6-E679-0674-E8FD90237499}"/>
          </ac:spMkLst>
        </pc:spChg>
        <pc:grpChg chg="add mod">
          <ac:chgData name="Jonathan Bollig" userId="8b5d0afe-f106-45e0-8c3f-fd98fa124db1" providerId="ADAL" clId="{B2469FA9-EBD8-4834-A16D-CBF8EFC907DD}" dt="2025-10-04T12:11:25.800" v="1438" actId="14100"/>
          <ac:grpSpMkLst>
            <pc:docMk/>
            <pc:sldMk cId="1896963193" sldId="275"/>
            <ac:grpSpMk id="10" creationId="{CF106ADC-FBA4-ACF7-7EEE-2246F375288C}"/>
          </ac:grpSpMkLst>
        </pc:grpChg>
        <pc:picChg chg="mod">
          <ac:chgData name="Jonathan Bollig" userId="8b5d0afe-f106-45e0-8c3f-fd98fa124db1" providerId="ADAL" clId="{B2469FA9-EBD8-4834-A16D-CBF8EFC907DD}" dt="2025-10-04T12:11:20.429" v="1435" actId="164"/>
          <ac:picMkLst>
            <pc:docMk/>
            <pc:sldMk cId="1896963193" sldId="275"/>
            <ac:picMk id="5" creationId="{7F8733AF-5082-5E1A-91ED-5339A2C1BC56}"/>
          </ac:picMkLst>
        </pc:picChg>
        <pc:picChg chg="add del">
          <ac:chgData name="Jonathan Bollig" userId="8b5d0afe-f106-45e0-8c3f-fd98fa124db1" providerId="ADAL" clId="{B2469FA9-EBD8-4834-A16D-CBF8EFC907DD}" dt="2025-10-04T12:10:56.776" v="1432" actId="478"/>
          <ac:picMkLst>
            <pc:docMk/>
            <pc:sldMk cId="1896963193" sldId="275"/>
            <ac:picMk id="6" creationId="{3EC151B8-54B6-45D2-D8AC-8A310DD90E57}"/>
          </ac:picMkLst>
        </pc:picChg>
        <pc:picChg chg="mod">
          <ac:chgData name="Jonathan Bollig" userId="8b5d0afe-f106-45e0-8c3f-fd98fa124db1" providerId="ADAL" clId="{B2469FA9-EBD8-4834-A16D-CBF8EFC907DD}" dt="2025-10-04T12:11:20.429" v="1435" actId="164"/>
          <ac:picMkLst>
            <pc:docMk/>
            <pc:sldMk cId="1896963193" sldId="275"/>
            <ac:picMk id="7" creationId="{29B55E6C-CFE5-F4C3-85AE-00A407EA5A24}"/>
          </ac:picMkLst>
        </pc:picChg>
        <pc:picChg chg="add mod">
          <ac:chgData name="Jonathan Bollig" userId="8b5d0afe-f106-45e0-8c3f-fd98fa124db1" providerId="ADAL" clId="{B2469FA9-EBD8-4834-A16D-CBF8EFC907DD}" dt="2025-10-04T12:11:29.552" v="1439" actId="1076"/>
          <ac:picMkLst>
            <pc:docMk/>
            <pc:sldMk cId="1896963193" sldId="275"/>
            <ac:picMk id="9" creationId="{325B4943-B072-D393-0EBA-8BF69475FDFC}"/>
          </ac:picMkLst>
        </pc:picChg>
        <pc:picChg chg="add del">
          <ac:chgData name="Jonathan Bollig" userId="8b5d0afe-f106-45e0-8c3f-fd98fa124db1" providerId="ADAL" clId="{B2469FA9-EBD8-4834-A16D-CBF8EFC907DD}" dt="2025-10-04T12:11:35.073" v="1441" actId="22"/>
          <ac:picMkLst>
            <pc:docMk/>
            <pc:sldMk cId="1896963193" sldId="275"/>
            <ac:picMk id="12" creationId="{4B32579C-5F68-44EE-E6FB-8E00D99305E7}"/>
          </ac:picMkLst>
        </pc:picChg>
      </pc:sldChg>
      <pc:sldChg chg="add">
        <pc:chgData name="Jonathan Bollig" userId="8b5d0afe-f106-45e0-8c3f-fd98fa124db1" providerId="ADAL" clId="{B2469FA9-EBD8-4834-A16D-CBF8EFC907DD}" dt="2025-10-02T19:17:37.229" v="1429"/>
        <pc:sldMkLst>
          <pc:docMk/>
          <pc:sldMk cId="3861966774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Go with the flow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Vielleicht</a:t>
            </a:r>
            <a:r>
              <a:rPr lang="en-US" dirty="0"/>
              <a:t> </a:t>
            </a:r>
            <a:r>
              <a:rPr lang="en-US" dirty="0" err="1"/>
              <a:t>erwähnen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ich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bezahlt</a:t>
            </a:r>
            <a:r>
              <a:rPr lang="en-US" dirty="0"/>
              <a:t> </a:t>
            </a:r>
            <a:r>
              <a:rPr lang="en-US" dirty="0" err="1"/>
              <a:t>werde</a:t>
            </a:r>
            <a:r>
              <a:rPr lang="en-US" dirty="0"/>
              <a:t>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38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in German, but we will manage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228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059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YouTube Style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127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Tiobe</a:t>
            </a:r>
            <a:r>
              <a:rPr lang="en-US" dirty="0"/>
              <a:t> Index: Complicated calculation</a:t>
            </a:r>
          </a:p>
          <a:p>
            <a:r>
              <a:rPr lang="en-US" dirty="0" err="1"/>
              <a:t>Pypl</a:t>
            </a:r>
            <a:r>
              <a:rPr lang="en-US" dirty="0"/>
              <a:t> Index: Popularity based on web searches (Here Data for Germany)</a:t>
            </a:r>
          </a:p>
          <a:p>
            <a:r>
              <a:rPr lang="en-US" dirty="0"/>
              <a:t>Anecdote on Python helping me in applications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8497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466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462D-0A0C-4CD4-C6B6-5AAEE7D7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394215-17D2-C991-BB5A-82CE231D1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1CDD5B-6FB8-989D-BE7C-A9E0C348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264D54-428B-35E7-1B1A-1DA43BC49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536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9FF8E-0D01-7609-4497-6DB0343C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4809D9-3627-C2BB-54EF-4A65EF56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9AA1043-70BC-6B47-3A3B-A593C9900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0E259F-110A-617C-966C-ACD7191C0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onathan.bollig@uni-jena.d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mailto:erik.prenzel@uni-jena.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ibes.fh-muenster.de/apps/live-votings/XETR2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673" y="1122363"/>
            <a:ext cx="944545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r>
              <a:rPr lang="en-US" noProof="0" dirty="0"/>
              <a:t>Chunk 1: Introduction &amp; Setup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51CFC-1D21-4497-6A27-7190D65B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Background &amp; About Me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B0E58-0247-CC0D-FAF1-6C07DEF2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6436" cy="4351338"/>
          </a:xfrm>
        </p:spPr>
        <p:txBody>
          <a:bodyPr/>
          <a:lstStyle/>
          <a:p>
            <a:r>
              <a:rPr lang="en-US" noProof="0" dirty="0">
                <a:hlinkClick r:id="rId3"/>
              </a:rPr>
              <a:t>jonathan.bollig@uni-jena.de</a:t>
            </a:r>
            <a:endParaRPr lang="en-US" noProof="0" dirty="0"/>
          </a:p>
          <a:p>
            <a:r>
              <a:rPr lang="en-US" noProof="0" dirty="0"/>
              <a:t>Master: Physics &amp; Photonics</a:t>
            </a:r>
          </a:p>
          <a:p>
            <a:r>
              <a:rPr lang="en-US" noProof="0" dirty="0"/>
              <a:t> Bachelor: Physics in Jena</a:t>
            </a:r>
          </a:p>
          <a:p>
            <a:r>
              <a:rPr lang="en-US" noProof="0" dirty="0"/>
              <a:t>Self-taught Python with YouTube before studying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Super useful in physics</a:t>
            </a:r>
          </a:p>
          <a:p>
            <a:r>
              <a:rPr lang="en-US" dirty="0">
                <a:sym typeface="Wingdings" panose="05000000000000000000" pitchFamily="2" charset="2"/>
              </a:rPr>
              <a:t>Tried to convince all my friends</a:t>
            </a:r>
          </a:p>
          <a:p>
            <a:r>
              <a:rPr lang="en-US" dirty="0">
                <a:sym typeface="Wingdings" panose="05000000000000000000" pitchFamily="2" charset="2"/>
              </a:rPr>
              <a:t>Now a course for everyone else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First time :) Let’s see how it goes </a:t>
            </a:r>
          </a:p>
          <a:p>
            <a:pPr marL="457200" lvl="1" indent="0">
              <a:buNone/>
            </a:pPr>
            <a:endParaRPr lang="en-US" noProof="0" dirty="0">
              <a:sym typeface="Wingdings" panose="05000000000000000000" pitchFamily="2" charset="2"/>
            </a:endParaRPr>
          </a:p>
          <a:p>
            <a:pPr lvl="1"/>
            <a:endParaRPr lang="en-US" noProof="0" dirty="0"/>
          </a:p>
        </p:txBody>
      </p:sp>
      <p:pic>
        <p:nvPicPr>
          <p:cNvPr id="5" name="Grafik 4" descr="Ein Bild, das draußen, Schiff, Boot, Himmel enthält.&#10;&#10;KI-generierte Inhalte können fehlerhaft sein.">
            <a:extLst>
              <a:ext uri="{FF2B5EF4-FFF2-40B4-BE49-F238E27FC236}">
                <a16:creationId xmlns:a16="http://schemas.microsoft.com/office/drawing/2014/main" id="{BD7F6025-A85F-51DF-C111-59882EA01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12062" b="25132"/>
          <a:stretch>
            <a:fillRect/>
          </a:stretch>
        </p:blipFill>
        <p:spPr>
          <a:xfrm>
            <a:off x="8284464" y="152260"/>
            <a:ext cx="2825496" cy="3008326"/>
          </a:xfrm>
          <a:prstGeom prst="rect">
            <a:avLst/>
          </a:prstGeom>
        </p:spPr>
      </p:pic>
      <p:pic>
        <p:nvPicPr>
          <p:cNvPr id="7" name="Grafik 6" descr="Ein Bild, das Text, Menschliches Gesicht, Kleidung, Mann enthält.&#10;&#10;KI-generierte Inhalte können fehlerhaft sein.">
            <a:extLst>
              <a:ext uri="{FF2B5EF4-FFF2-40B4-BE49-F238E27FC236}">
                <a16:creationId xmlns:a16="http://schemas.microsoft.com/office/drawing/2014/main" id="{188D65C0-D9BE-A6F8-6646-B166A0384B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562" y="3559302"/>
            <a:ext cx="3006090" cy="300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903BF-A7F6-BE1F-4F88-48271E8F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Tutors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EEB7B0-F416-D9F7-D311-628CB7AB6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Erik Prenzel (</a:t>
            </a:r>
            <a:r>
              <a:rPr lang="en-US" noProof="0" dirty="0">
                <a:hlinkClick r:id="rId2"/>
              </a:rPr>
              <a:t>erik.prenzel@uni-jena.de</a:t>
            </a:r>
            <a:r>
              <a:rPr lang="en-US" noProof="0" dirty="0"/>
              <a:t>)</a:t>
            </a:r>
          </a:p>
          <a:p>
            <a:pPr lvl="1"/>
            <a:r>
              <a:rPr lang="en-US" dirty="0"/>
              <a:t>Student in Physics Master</a:t>
            </a:r>
          </a:p>
          <a:p>
            <a:pPr lvl="1"/>
            <a:r>
              <a:rPr lang="en-US" noProof="0" dirty="0"/>
              <a:t>Friend of Jonathan</a:t>
            </a:r>
          </a:p>
          <a:p>
            <a:pPr lvl="1"/>
            <a:r>
              <a:rPr lang="en-US" noProof="0" dirty="0"/>
              <a:t>Learned Python during my studies, 100% worth it</a:t>
            </a:r>
          </a:p>
          <a:p>
            <a:pPr lvl="1"/>
            <a:endParaRPr lang="en-US" noProof="0" dirty="0"/>
          </a:p>
        </p:txBody>
      </p:sp>
      <p:pic>
        <p:nvPicPr>
          <p:cNvPr id="5" name="Picture 4" descr="A person holding a cup and a umbrella&#10;&#10;AI-generated content may be incorrect.">
            <a:extLst>
              <a:ext uri="{FF2B5EF4-FFF2-40B4-BE49-F238E27FC236}">
                <a16:creationId xmlns:a16="http://schemas.microsoft.com/office/drawing/2014/main" id="{7F972153-4B6E-9CBA-0AB8-7C209D5C3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68" b="31983"/>
          <a:stretch>
            <a:fillRect/>
          </a:stretch>
        </p:blipFill>
        <p:spPr>
          <a:xfrm>
            <a:off x="9237837" y="373284"/>
            <a:ext cx="2516553" cy="30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6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774F8-2673-7049-4BB0-783ED8BD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About You: </a:t>
            </a:r>
            <a:r>
              <a:rPr lang="en-US" dirty="0"/>
              <a:t>(Experimental) </a:t>
            </a:r>
            <a:r>
              <a:rPr lang="en-US" dirty="0" err="1"/>
              <a:t>Questionare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7F985A-F858-DACA-53BD-4F162A20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64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hlinkClick r:id="rId3"/>
            </a:endParaRP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https://vibes.fh-muenster.de/apps/live-votings/XETR2/</a:t>
            </a:r>
            <a:r>
              <a:rPr lang="en-US" dirty="0"/>
              <a:t> </a:t>
            </a:r>
            <a:endParaRPr lang="en-US" noProof="0" dirty="0"/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3374D0-E3F6-894D-5935-6CAFCEECA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365" y="1474981"/>
            <a:ext cx="4309270" cy="42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9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D386F-59C6-F67B-7DCD-F1BC663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General Information – Times and Dates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6BD547-131A-7854-8F80-981FAD9C3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6771"/>
          </a:xfrm>
        </p:spPr>
        <p:txBody>
          <a:bodyPr/>
          <a:lstStyle/>
          <a:p>
            <a:r>
              <a:rPr lang="en-US" noProof="0" dirty="0"/>
              <a:t>Dates: </a:t>
            </a:r>
          </a:p>
          <a:p>
            <a:pPr lvl="1"/>
            <a:r>
              <a:rPr lang="en-US" noProof="0" dirty="0"/>
              <a:t>Regular: Wednesday to Friday</a:t>
            </a:r>
          </a:p>
          <a:p>
            <a:pPr lvl="1"/>
            <a:r>
              <a:rPr lang="en-US" noProof="0" dirty="0"/>
              <a:t>Maybe Saturday if delayed or for extra “chunks” (Improvised if demanded)</a:t>
            </a:r>
          </a:p>
          <a:p>
            <a:r>
              <a:rPr lang="en-US" noProof="0" dirty="0"/>
              <a:t>Times: </a:t>
            </a:r>
          </a:p>
          <a:p>
            <a:pPr lvl="1"/>
            <a:r>
              <a:rPr lang="en-US" noProof="0" dirty="0"/>
              <a:t>Start at 09:30</a:t>
            </a:r>
          </a:p>
          <a:p>
            <a:pPr lvl="1"/>
            <a:r>
              <a:rPr lang="en-US" noProof="0" dirty="0"/>
              <a:t>Lunchbreak 12:30 – 13:30</a:t>
            </a:r>
          </a:p>
          <a:p>
            <a:pPr lvl="1"/>
            <a:r>
              <a:rPr lang="en-US" noProof="0" dirty="0"/>
              <a:t>Finish: ~16:30</a:t>
            </a:r>
          </a:p>
          <a:p>
            <a:r>
              <a:rPr lang="en-US" noProof="0" dirty="0"/>
              <a:t>Lecturing type:</a:t>
            </a:r>
          </a:p>
          <a:p>
            <a:pPr lvl="1"/>
            <a:r>
              <a:rPr lang="en-US" noProof="0" dirty="0"/>
              <a:t>15-minute lectures (Chunks) with 45-minute practice sessions</a:t>
            </a:r>
          </a:p>
          <a:p>
            <a:pPr lvl="1"/>
            <a:r>
              <a:rPr lang="en-US" noProof="0" dirty="0"/>
              <a:t>3 chunks before and 3 after lunch </a:t>
            </a:r>
            <a:r>
              <a:rPr lang="en-US" noProof="0" dirty="0">
                <a:sym typeface="Wingdings" panose="05000000000000000000" pitchFamily="2" charset="2"/>
              </a:rPr>
              <a:t> 18 chunks in total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Exception: Now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632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EC020-67CE-83BA-52A4-53DB4E73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General Information – Lecturing Type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763ED7-8DD3-93DC-2F3B-D6B7FEB3B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noProof="0" dirty="0"/>
              <a:t>15 Minute Lectures: Concise introductions to topics</a:t>
            </a:r>
          </a:p>
          <a:p>
            <a:pPr lvl="1"/>
            <a:r>
              <a:rPr lang="en-US" dirty="0"/>
              <a:t>YouTube tutorial style</a:t>
            </a:r>
            <a:endParaRPr lang="en-US" noProof="0" dirty="0"/>
          </a:p>
          <a:p>
            <a:pPr lvl="1"/>
            <a:r>
              <a:rPr lang="en-US" noProof="0" dirty="0"/>
              <a:t>PDFs are uploaded</a:t>
            </a:r>
          </a:p>
          <a:p>
            <a:r>
              <a:rPr lang="en-US" noProof="0" dirty="0"/>
              <a:t>45 Minute self practice:</a:t>
            </a:r>
          </a:p>
          <a:p>
            <a:pPr lvl="1"/>
            <a:r>
              <a:rPr lang="en-US" noProof="0" dirty="0"/>
              <a:t>Usage of </a:t>
            </a:r>
            <a:r>
              <a:rPr lang="en-US" noProof="0" dirty="0" err="1"/>
              <a:t>Jupyter</a:t>
            </a:r>
            <a:r>
              <a:rPr lang="en-US" noProof="0" dirty="0"/>
              <a:t> Notebooks: Tasks and solutions in one place.</a:t>
            </a:r>
          </a:p>
          <a:p>
            <a:pPr lvl="1"/>
            <a:r>
              <a:rPr lang="en-US" noProof="0" dirty="0"/>
              <a:t>Summary at the top</a:t>
            </a:r>
          </a:p>
          <a:p>
            <a:pPr lvl="1"/>
            <a:r>
              <a:rPr lang="en-US" noProof="0" dirty="0"/>
              <a:t>Easy, medium and advanced tasks</a:t>
            </a:r>
          </a:p>
          <a:p>
            <a:r>
              <a:rPr lang="en-US" noProof="0" dirty="0"/>
              <a:t>Generally: </a:t>
            </a:r>
          </a:p>
          <a:p>
            <a:pPr lvl="1"/>
            <a:r>
              <a:rPr lang="en-US" noProof="0" dirty="0"/>
              <a:t>Come and Go whenever you like</a:t>
            </a:r>
          </a:p>
          <a:p>
            <a:pPr lvl="1"/>
            <a:r>
              <a:rPr lang="en-US" dirty="0"/>
              <a:t>Ask Questions directly (Maybe everyone is wondering </a:t>
            </a:r>
            <a:r>
              <a:rPr lang="en-US"/>
              <a:t>the same)</a:t>
            </a:r>
            <a:endParaRPr lang="en-US" dirty="0"/>
          </a:p>
          <a:p>
            <a:pPr lvl="1"/>
            <a:r>
              <a:rPr lang="en-US" b="1" noProof="0" dirty="0"/>
              <a:t>ALL</a:t>
            </a:r>
            <a:r>
              <a:rPr lang="en-US" noProof="0" dirty="0"/>
              <a:t> Slides etc. are shared </a:t>
            </a:r>
            <a:r>
              <a:rPr lang="en-US" noProof="0" dirty="0">
                <a:sym typeface="Wingdings" panose="05000000000000000000" pitchFamily="2" charset="2"/>
              </a:rPr>
              <a:t>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54427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CB61D-ECBB-25DD-17DA-9649B76D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Coding?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BA87-039D-D5A7-8D93-25B1EDB98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  <a:p>
            <a:r>
              <a:rPr lang="en-US" dirty="0"/>
              <a:t>Simulations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779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B4686-D66D-085E-58BD-3268260F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 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42771F-DF04-1174-3FF8-EF82B9BF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Experiment (UV-Experiment)</a:t>
            </a:r>
          </a:p>
          <a:p>
            <a:r>
              <a:rPr lang="de-DE" dirty="0"/>
              <a:t>Data Analysis </a:t>
            </a:r>
            <a:r>
              <a:rPr lang="de-DE" dirty="0" err="1"/>
              <a:t>from</a:t>
            </a:r>
            <a:r>
              <a:rPr lang="de-DE" dirty="0"/>
              <a:t> Lab (</a:t>
            </a:r>
            <a:r>
              <a:rPr lang="de-DE" dirty="0" err="1"/>
              <a:t>Oszi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Experimental </a:t>
            </a:r>
            <a:r>
              <a:rPr lang="de-DE" dirty="0" err="1"/>
              <a:t>Optics</a:t>
            </a:r>
            <a:r>
              <a:rPr lang="de-DE" dirty="0"/>
              <a:t>)</a:t>
            </a:r>
          </a:p>
          <a:p>
            <a:r>
              <a:rPr lang="de-DE" dirty="0"/>
              <a:t>Irgendeine Simulation (vielleicht von PCQM)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258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292C6-36F2-EE1B-CE24-71213F4F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3EC33-0879-A7FD-D5AB-59D7A4D9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popular programming language world-wide </a:t>
            </a:r>
          </a:p>
          <a:p>
            <a:pPr lvl="1"/>
            <a:r>
              <a:rPr lang="en-US" dirty="0"/>
              <a:t>Web Development, AI / LLM, Data Science</a:t>
            </a:r>
          </a:p>
          <a:p>
            <a:r>
              <a:rPr lang="en-US" dirty="0"/>
              <a:t>Popular in the scientific community (anecdotal evidence)</a:t>
            </a:r>
          </a:p>
          <a:p>
            <a:pPr lvl="1"/>
            <a:r>
              <a:rPr lang="en-US" dirty="0"/>
              <a:t>Used here in Comp. Physics 1 – 4, comp. Photonics</a:t>
            </a:r>
          </a:p>
          <a:p>
            <a:pPr lvl="1"/>
            <a:r>
              <a:rPr lang="en-US" dirty="0"/>
              <a:t>Personally, used it in 5 different research groups</a:t>
            </a:r>
          </a:p>
          <a:p>
            <a:pPr lvl="1"/>
            <a:r>
              <a:rPr lang="en-US" dirty="0" err="1"/>
              <a:t>Matlab</a:t>
            </a:r>
            <a:r>
              <a:rPr lang="en-US" dirty="0"/>
              <a:t> ⚡Python ⚡C/C++</a:t>
            </a:r>
          </a:p>
          <a:p>
            <a:r>
              <a:rPr lang="en-US" dirty="0"/>
              <a:t>Open Source / Free</a:t>
            </a:r>
          </a:p>
          <a:p>
            <a:r>
              <a:rPr lang="en-US" dirty="0"/>
              <a:t>Easy (kind of)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23C385B-7E28-BEEE-C51C-4DDF31CD4C47}"/>
              </a:ext>
            </a:extLst>
          </p:cNvPr>
          <p:cNvSpPr txBox="1"/>
          <p:nvPr/>
        </p:nvSpPr>
        <p:spPr>
          <a:xfrm>
            <a:off x="7416921" y="1311334"/>
            <a:ext cx="2408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[https://pypl.github.io/PYPL.html]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13FA21-7C06-78B1-28D9-CC4E14D22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4896527"/>
            <a:ext cx="4379976" cy="141537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BE4B3A-1C55-7B28-1B9C-1A427B555E20}"/>
              </a:ext>
            </a:extLst>
          </p:cNvPr>
          <p:cNvSpPr txBox="1"/>
          <p:nvPr/>
        </p:nvSpPr>
        <p:spPr>
          <a:xfrm>
            <a:off x="7023474" y="6384188"/>
            <a:ext cx="2649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[https://www.tiobe.com/tiobe-index/]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C52B756-268B-B5CF-59FB-405DA9368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41150"/>
            <a:ext cx="4058799" cy="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16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25054-C76E-45A7-4239-2BA56785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to other languages, (dis)advantages of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7788F-7BB4-2420-6F85-726B9B09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Easy to learn</a:t>
            </a:r>
          </a:p>
          <a:p>
            <a:r>
              <a:rPr lang="en-US" dirty="0"/>
              <a:t>Readable</a:t>
            </a:r>
          </a:p>
          <a:p>
            <a:r>
              <a:rPr lang="en-US" noProof="0" dirty="0"/>
              <a:t>Slow but can be fast</a:t>
            </a:r>
          </a:p>
          <a:p>
            <a:r>
              <a:rPr lang="en-US" noProof="0" dirty="0"/>
              <a:t>Popular</a:t>
            </a:r>
          </a:p>
        </p:txBody>
      </p:sp>
    </p:spTree>
    <p:extLst>
      <p:ext uri="{BB962C8B-B14F-4D97-AF65-F5344CB8AC3E}">
        <p14:creationId xmlns:p14="http://schemas.microsoft.com/office/powerpoint/2010/main" val="253328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3651F-7B74-DB05-1685-E229EF6B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B8E70D-A568-FBF8-1AA6-CC5310DE9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66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Ability to use python as a tool in everyday (physics) life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Read and write data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Process and clean data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Visualize data</a:t>
            </a:r>
          </a:p>
          <a:p>
            <a:r>
              <a:rPr lang="en-US" dirty="0">
                <a:sym typeface="Wingdings" panose="05000000000000000000" pitchFamily="2" charset="2"/>
              </a:rPr>
              <a:t>We won’t cover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 Game Design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 Webdesign</a:t>
            </a:r>
          </a:p>
          <a:p>
            <a:r>
              <a:rPr lang="de-DE" dirty="0" err="1">
                <a:sym typeface="Wingdings" panose="05000000000000000000" pitchFamily="2" charset="2"/>
              </a:rPr>
              <a:t>What</a:t>
            </a:r>
            <a:r>
              <a:rPr lang="de-DE" dirty="0">
                <a:sym typeface="Wingdings" panose="05000000000000000000" pitchFamily="2" charset="2"/>
              </a:rPr>
              <a:t> I </a:t>
            </a:r>
            <a:r>
              <a:rPr lang="de-DE" dirty="0" err="1">
                <a:sym typeface="Wingdings" panose="05000000000000000000" pitchFamily="2" charset="2"/>
              </a:rPr>
              <a:t>might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cover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future</a:t>
            </a:r>
            <a:r>
              <a:rPr lang="de-DE" dirty="0">
                <a:sym typeface="Wingdings" panose="05000000000000000000" pitchFamily="2" charset="2"/>
              </a:rPr>
              <a:t>: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Recursion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Version Control w. </a:t>
            </a:r>
            <a:r>
              <a:rPr lang="de-DE" dirty="0" err="1">
                <a:sym typeface="Wingdings" panose="05000000000000000000" pitchFamily="2" charset="2"/>
              </a:rPr>
              <a:t>Git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Pretty Coding / PEP / </a:t>
            </a:r>
            <a:r>
              <a:rPr lang="de-DE" dirty="0" err="1">
                <a:sym typeface="Wingdings" panose="05000000000000000000" pitchFamily="2" charset="2"/>
              </a:rPr>
              <a:t>Typing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Object Oriented Programming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Multithreading / Processing</a:t>
            </a: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51195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1932C9-A21C-7737-76E8-EF46B9BF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a program?</a:t>
            </a:r>
          </a:p>
        </p:txBody>
      </p:sp>
      <p:pic>
        <p:nvPicPr>
          <p:cNvPr id="5" name="Inhaltsplatzhalter 4" descr="Ein Bild, das Entwurf, Lineart, Darstellung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B7D8B75D-471B-2136-CBF8-8B24DDC40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354" y="1825625"/>
            <a:ext cx="2900892" cy="4351338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347A4D4-FE7E-08CF-AD21-E1B7914CBD49}"/>
              </a:ext>
            </a:extLst>
          </p:cNvPr>
          <p:cNvSpPr txBox="1"/>
          <p:nvPr/>
        </p:nvSpPr>
        <p:spPr>
          <a:xfrm>
            <a:off x="2751826" y="6215876"/>
            <a:ext cx="1025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[ChatGPT 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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F1D3D10-C7C6-AFB4-0E4C-CCFC3699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603" y="1825625"/>
            <a:ext cx="2733429" cy="12708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F9C47FF-A8C1-1542-9C11-F8546841E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101" y="5252971"/>
            <a:ext cx="1670576" cy="923991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C142555A-9FF6-B9E4-2EE3-364653FDC2EC}"/>
              </a:ext>
            </a:extLst>
          </p:cNvPr>
          <p:cNvGrpSpPr/>
          <p:nvPr/>
        </p:nvGrpSpPr>
        <p:grpSpPr>
          <a:xfrm>
            <a:off x="7875629" y="1825625"/>
            <a:ext cx="2953281" cy="4681270"/>
            <a:chOff x="8227674" y="1690688"/>
            <a:chExt cx="2953281" cy="4681270"/>
          </a:xfrm>
        </p:grpSpPr>
        <p:pic>
          <p:nvPicPr>
            <p:cNvPr id="12" name="Grafik 11" descr="Ein Bild, das Entwurf, Lineart, Darstellung, Zeichnung enthält.&#10;&#10;KI-generierte Inhalte können fehlerhaft sein.">
              <a:extLst>
                <a:ext uri="{FF2B5EF4-FFF2-40B4-BE49-F238E27FC236}">
                  <a16:creationId xmlns:a16="http://schemas.microsoft.com/office/drawing/2014/main" id="{551D80EB-047C-8E3D-10BA-E23DB6DB7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7674" y="1690688"/>
              <a:ext cx="2900892" cy="4351338"/>
            </a:xfrm>
            <a:prstGeom prst="rect">
              <a:avLst/>
            </a:prstGeom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A671D272-5EE6-AF33-B79B-B2E41AEBB523}"/>
                </a:ext>
              </a:extLst>
            </p:cNvPr>
            <p:cNvSpPr txBox="1"/>
            <p:nvPr/>
          </p:nvSpPr>
          <p:spPr>
            <a:xfrm>
              <a:off x="10155418" y="6094959"/>
              <a:ext cx="1025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noProof="0" dirty="0">
                  <a:solidFill>
                    <a:schemeClr val="bg2">
                      <a:lumMod val="75000"/>
                    </a:schemeClr>
                  </a:solidFill>
                </a:rPr>
                <a:t>[ChatGPT </a:t>
              </a:r>
              <a:r>
                <a:rPr lang="en-GB" sz="1200" noProof="0" dirty="0">
                  <a:solidFill>
                    <a:schemeClr val="bg2">
                      <a:lumMod val="75000"/>
                    </a:schemeClr>
                  </a:solidFill>
                  <a:sym typeface="Wingdings" panose="05000000000000000000" pitchFamily="2" charset="2"/>
                </a:rPr>
                <a:t></a:t>
              </a:r>
              <a:r>
                <a:rPr lang="en-GB" sz="1200" noProof="0" dirty="0">
                  <a:solidFill>
                    <a:schemeClr val="bg2">
                      <a:lumMod val="75000"/>
                    </a:schemeClr>
                  </a:solidFill>
                </a:rPr>
                <a:t>]</a:t>
              </a:r>
            </a:p>
          </p:txBody>
        </p:sp>
      </p:grp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70CEDD9-E093-169F-F488-56E7C55A6442}"/>
              </a:ext>
            </a:extLst>
          </p:cNvPr>
          <p:cNvCxnSpPr>
            <a:cxnSpLocks/>
          </p:cNvCxnSpPr>
          <p:nvPr/>
        </p:nvCxnSpPr>
        <p:spPr>
          <a:xfrm>
            <a:off x="5684650" y="3148060"/>
            <a:ext cx="0" cy="34494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7C80D43-B4C6-9002-4308-8939D6AC1755}"/>
              </a:ext>
            </a:extLst>
          </p:cNvPr>
          <p:cNvCxnSpPr>
            <a:cxnSpLocks/>
          </p:cNvCxnSpPr>
          <p:nvPr/>
        </p:nvCxnSpPr>
        <p:spPr>
          <a:xfrm>
            <a:off x="5734942" y="4771120"/>
            <a:ext cx="0" cy="358664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14727B7-FA77-1EC5-6961-AA2386AA6655}"/>
              </a:ext>
            </a:extLst>
          </p:cNvPr>
          <p:cNvSpPr/>
          <p:nvPr/>
        </p:nvSpPr>
        <p:spPr>
          <a:xfrm>
            <a:off x="4466845" y="368298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Some Magic 🪄</a:t>
            </a:r>
          </a:p>
          <a:p>
            <a:pPr algn="ctr"/>
            <a:r>
              <a:rPr lang="en-GB" sz="1100" noProof="0" dirty="0">
                <a:solidFill>
                  <a:schemeClr val="tx1"/>
                </a:solidFill>
              </a:rPr>
              <a:t>(Beyond our scope, google if interested)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0D1C1EF-BB30-BC1B-6D99-A7FDC5B5566A}"/>
              </a:ext>
            </a:extLst>
          </p:cNvPr>
          <p:cNvCxnSpPr>
            <a:cxnSpLocks/>
          </p:cNvCxnSpPr>
          <p:nvPr/>
        </p:nvCxnSpPr>
        <p:spPr>
          <a:xfrm>
            <a:off x="3868803" y="2431780"/>
            <a:ext cx="323721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5EE2D5B-78C2-402F-3E7B-17D841183AC9}"/>
              </a:ext>
            </a:extLst>
          </p:cNvPr>
          <p:cNvCxnSpPr>
            <a:cxnSpLocks/>
          </p:cNvCxnSpPr>
          <p:nvPr/>
        </p:nvCxnSpPr>
        <p:spPr>
          <a:xfrm>
            <a:off x="7033523" y="5624560"/>
            <a:ext cx="323721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19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14935-7B12-6069-5470-A48654E7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2,5 Ways of Coding in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FE0F96-E5FC-02B1-BFF8-B43CA482E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06568" cy="4351338"/>
          </a:xfrm>
        </p:spPr>
        <p:txBody>
          <a:bodyPr/>
          <a:lstStyle/>
          <a:p>
            <a:r>
              <a:rPr lang="en-GB" noProof="0" dirty="0"/>
              <a:t>Skript:</a:t>
            </a:r>
          </a:p>
          <a:p>
            <a:pPr lvl="1"/>
            <a:r>
              <a:rPr lang="en-GB" noProof="0" dirty="0"/>
              <a:t>Starts Python</a:t>
            </a:r>
          </a:p>
          <a:p>
            <a:pPr lvl="1"/>
            <a:r>
              <a:rPr lang="en-GB" noProof="0" dirty="0"/>
              <a:t>Runs Code from first to last line</a:t>
            </a:r>
          </a:p>
          <a:p>
            <a:pPr lvl="1"/>
            <a:r>
              <a:rPr lang="en-GB" noProof="0" dirty="0"/>
              <a:t>Finishes (closes Python) when last line is executed </a:t>
            </a:r>
          </a:p>
          <a:p>
            <a:pPr lvl="1"/>
            <a:r>
              <a:rPr lang="en-GB" dirty="0"/>
              <a:t>After execution: Memory lost</a:t>
            </a:r>
            <a:endParaRPr lang="en-GB" noProof="0" dirty="0"/>
          </a:p>
          <a:p>
            <a:endParaRPr lang="en-GB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4D5984-4336-57AF-6F98-70D23603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195" y="4272507"/>
            <a:ext cx="2486541" cy="1156080"/>
          </a:xfrm>
          <a:prstGeom prst="rect">
            <a:avLst/>
          </a:prstGeom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4935A5-4976-88E4-2B8D-E62E979DB69F}"/>
              </a:ext>
            </a:extLst>
          </p:cNvPr>
          <p:cNvSpPr txBox="1">
            <a:spLocks/>
          </p:cNvSpPr>
          <p:nvPr/>
        </p:nvSpPr>
        <p:spPr>
          <a:xfrm>
            <a:off x="6371844" y="1825625"/>
            <a:ext cx="5306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Interactive:</a:t>
            </a:r>
          </a:p>
          <a:p>
            <a:pPr lvl="1"/>
            <a:r>
              <a:rPr lang="en-GB" noProof="0" dirty="0"/>
              <a:t>Python is started</a:t>
            </a:r>
          </a:p>
          <a:p>
            <a:pPr lvl="1"/>
            <a:r>
              <a:rPr lang="en-GB" noProof="0" dirty="0"/>
              <a:t>Executes commands “on the go”</a:t>
            </a:r>
          </a:p>
          <a:p>
            <a:pPr lvl="1"/>
            <a:r>
              <a:rPr lang="en-GB" noProof="0" dirty="0"/>
              <a:t>Python is manually closed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 Memory maintained</a:t>
            </a:r>
            <a:endParaRPr lang="en-GB" noProof="0" dirty="0"/>
          </a:p>
          <a:p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186F58-509D-8A43-1EB0-A88A88CE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067" y="3858768"/>
            <a:ext cx="3117738" cy="20900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B8209FE-45CC-DA36-DC99-D558D0F68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049" y="6058912"/>
            <a:ext cx="1444751" cy="799088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3354490-69C8-B104-F9D3-A9092F12FF27}"/>
              </a:ext>
            </a:extLst>
          </p:cNvPr>
          <p:cNvCxnSpPr>
            <a:cxnSpLocks/>
          </p:cNvCxnSpPr>
          <p:nvPr/>
        </p:nvCxnSpPr>
        <p:spPr>
          <a:xfrm>
            <a:off x="2995384" y="5561520"/>
            <a:ext cx="0" cy="358664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77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BFACBC-0027-576E-7C90-41C79B34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2,5 Ways of Coding in Python: Notebooks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6968F2-1F9C-CD8C-5D71-85E2C0E6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883"/>
            <a:ext cx="5622036" cy="5095241"/>
          </a:xfrm>
        </p:spPr>
        <p:txBody>
          <a:bodyPr>
            <a:normAutofit fontScale="92500"/>
          </a:bodyPr>
          <a:lstStyle/>
          <a:p>
            <a:r>
              <a:rPr lang="en-GB" noProof="0" dirty="0" err="1"/>
              <a:t>Jupyter</a:t>
            </a:r>
            <a:r>
              <a:rPr lang="en-GB" noProof="0" dirty="0"/>
              <a:t> Notebooks are interactive, but group code in cells:</a:t>
            </a:r>
          </a:p>
          <a:p>
            <a:r>
              <a:rPr lang="en-GB" noProof="0" dirty="0"/>
              <a:t>Advantages: </a:t>
            </a:r>
          </a:p>
          <a:p>
            <a:pPr lvl="1"/>
            <a:r>
              <a:rPr lang="en-GB" noProof="0" dirty="0"/>
              <a:t>Tasks, Cheat Sheets and place for solving all in one place. </a:t>
            </a:r>
          </a:p>
          <a:p>
            <a:pPr lvl="1"/>
            <a:r>
              <a:rPr lang="en-GB" noProof="0" dirty="0"/>
              <a:t>No extra IDE needed.</a:t>
            </a:r>
          </a:p>
          <a:p>
            <a:r>
              <a:rPr lang="en-GB" noProof="0" dirty="0"/>
              <a:t>Disadvantages:</a:t>
            </a:r>
          </a:p>
          <a:p>
            <a:pPr lvl="1"/>
            <a:r>
              <a:rPr lang="en-GB" noProof="0" dirty="0"/>
              <a:t>Sometimes stuff works, that shouldn’t</a:t>
            </a:r>
          </a:p>
          <a:p>
            <a:pPr lvl="1"/>
            <a:r>
              <a:rPr lang="en-GB" noProof="0" dirty="0"/>
              <a:t>Can promote bad coding practises</a:t>
            </a:r>
          </a:p>
          <a:p>
            <a:r>
              <a:rPr lang="en-GB" noProof="0" dirty="0"/>
              <a:t>In this course: Python + Notebooks treaded as one. At end of course: Introduction to other IDEs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F26A2E-6D81-7B6B-4A09-841080C3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02" y="1619885"/>
            <a:ext cx="4548369" cy="47031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7198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C605B-C06C-C4F8-7083-A9796A47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Live Demo: Cells</a:t>
            </a:r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82D430D0-811C-2599-A3AC-EA1E7FB1A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5"/>
          </a:xfrm>
        </p:spPr>
        <p:txBody>
          <a:bodyPr/>
          <a:lstStyle/>
          <a:p>
            <a:endParaRPr lang="en-US" dirty="0"/>
          </a:p>
          <a:p>
            <a:r>
              <a:rPr lang="de-DE" dirty="0" err="1"/>
              <a:t>Markdown</a:t>
            </a:r>
            <a:r>
              <a:rPr lang="de-DE" dirty="0"/>
              <a:t> Cells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Code Cells</a:t>
            </a:r>
          </a:p>
          <a:p>
            <a:endParaRPr lang="de-DE" dirty="0"/>
          </a:p>
          <a:p>
            <a:r>
              <a:rPr lang="de-DE" dirty="0"/>
              <a:t>Cells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Moved</a:t>
            </a:r>
            <a:endParaRPr lang="de-DE" dirty="0"/>
          </a:p>
          <a:p>
            <a:pPr lvl="1"/>
            <a:r>
              <a:rPr lang="de-DE" dirty="0"/>
              <a:t>Copy </a:t>
            </a:r>
            <a:r>
              <a:rPr lang="de-DE" dirty="0" err="1"/>
              <a:t>Pasted</a:t>
            </a:r>
            <a:endParaRPr lang="de-DE" dirty="0"/>
          </a:p>
          <a:p>
            <a:pPr lvl="1"/>
            <a:r>
              <a:rPr lang="de-DE" dirty="0"/>
              <a:t>Etc.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863E4BAE-12E1-00C4-5E3F-356004270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96222"/>
            <a:ext cx="4019550" cy="5135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Geschweifte Klammer links 16">
            <a:extLst>
              <a:ext uri="{FF2B5EF4-FFF2-40B4-BE49-F238E27FC236}">
                <a16:creationId xmlns:a16="http://schemas.microsoft.com/office/drawing/2014/main" id="{7B68EA7A-F163-3C16-D269-75B141EBA0C6}"/>
              </a:ext>
            </a:extLst>
          </p:cNvPr>
          <p:cNvSpPr/>
          <p:nvPr/>
        </p:nvSpPr>
        <p:spPr>
          <a:xfrm>
            <a:off x="7410450" y="1212669"/>
            <a:ext cx="371475" cy="959031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A0441DDE-FA38-B450-F553-0E2B5BB80F8A}"/>
              </a:ext>
            </a:extLst>
          </p:cNvPr>
          <p:cNvSpPr/>
          <p:nvPr/>
        </p:nvSpPr>
        <p:spPr>
          <a:xfrm>
            <a:off x="7410450" y="3168733"/>
            <a:ext cx="371475" cy="2384342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C3DD7C3-E155-2263-BD79-B4C8342F3198}"/>
              </a:ext>
            </a:extLst>
          </p:cNvPr>
          <p:cNvCxnSpPr>
            <a:cxnSpLocks/>
          </p:cNvCxnSpPr>
          <p:nvPr/>
        </p:nvCxnSpPr>
        <p:spPr>
          <a:xfrm flipV="1">
            <a:off x="3810000" y="1690688"/>
            <a:ext cx="3400425" cy="86201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37DE337-B278-61CF-90DD-758B9678A9BC}"/>
              </a:ext>
            </a:extLst>
          </p:cNvPr>
          <p:cNvCxnSpPr>
            <a:cxnSpLocks/>
          </p:cNvCxnSpPr>
          <p:nvPr/>
        </p:nvCxnSpPr>
        <p:spPr>
          <a:xfrm>
            <a:off x="3810000" y="2552700"/>
            <a:ext cx="3400425" cy="17526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Geschweifte Klammer links 23">
            <a:extLst>
              <a:ext uri="{FF2B5EF4-FFF2-40B4-BE49-F238E27FC236}">
                <a16:creationId xmlns:a16="http://schemas.microsoft.com/office/drawing/2014/main" id="{87F5ACD8-1B7E-8E70-DE48-872C0D064907}"/>
              </a:ext>
            </a:extLst>
          </p:cNvPr>
          <p:cNvSpPr/>
          <p:nvPr/>
        </p:nvSpPr>
        <p:spPr>
          <a:xfrm>
            <a:off x="7410450" y="5661779"/>
            <a:ext cx="371475" cy="66467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821A620-9131-B74C-81A1-B022C9F9782E}"/>
              </a:ext>
            </a:extLst>
          </p:cNvPr>
          <p:cNvCxnSpPr>
            <a:cxnSpLocks/>
          </p:cNvCxnSpPr>
          <p:nvPr/>
        </p:nvCxnSpPr>
        <p:spPr>
          <a:xfrm>
            <a:off x="3067050" y="4152900"/>
            <a:ext cx="4143375" cy="18002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eschweifte Klammer links 25">
            <a:extLst>
              <a:ext uri="{FF2B5EF4-FFF2-40B4-BE49-F238E27FC236}">
                <a16:creationId xmlns:a16="http://schemas.microsoft.com/office/drawing/2014/main" id="{8C03FDEB-F8CE-E25A-6E9B-C878D54CDF15}"/>
              </a:ext>
            </a:extLst>
          </p:cNvPr>
          <p:cNvSpPr/>
          <p:nvPr/>
        </p:nvSpPr>
        <p:spPr>
          <a:xfrm>
            <a:off x="7410450" y="2269855"/>
            <a:ext cx="371475" cy="74938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716812B-77CD-2645-4036-A33B455296E8}"/>
              </a:ext>
            </a:extLst>
          </p:cNvPr>
          <p:cNvCxnSpPr>
            <a:cxnSpLocks/>
          </p:cNvCxnSpPr>
          <p:nvPr/>
        </p:nvCxnSpPr>
        <p:spPr>
          <a:xfrm flipV="1">
            <a:off x="3067050" y="2676525"/>
            <a:ext cx="4143375" cy="1466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859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D14E-B9D1-0AC3-DC81-9DEC4730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B3E72-C0F4-D524-91C0-A37835D6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Live Demo: Markdown Cells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724236-A683-6C3A-94A5-E8F57EED5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36620"/>
            <a:ext cx="4377845" cy="4486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2343476-9F02-5D8D-C224-EB0A496E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899" y="1556692"/>
            <a:ext cx="3315163" cy="4620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9FF7CAB-4E8E-5FC4-EF42-842A603270CC}"/>
              </a:ext>
            </a:extLst>
          </p:cNvPr>
          <p:cNvCxnSpPr/>
          <p:nvPr/>
        </p:nvCxnSpPr>
        <p:spPr>
          <a:xfrm>
            <a:off x="5790636" y="3779758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A4D0C90-4AA9-9EE3-7472-18CFF9781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5693"/>
            <a:ext cx="10515600" cy="614363"/>
          </a:xfrm>
        </p:spPr>
        <p:txBody>
          <a:bodyPr/>
          <a:lstStyle/>
          <a:p>
            <a:r>
              <a:rPr lang="en-US" dirty="0"/>
              <a:t>Execute Cell: Shift + Enter or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F4F9C13-D03E-9502-23B1-53DE36DB3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2813" y="6022895"/>
            <a:ext cx="1200318" cy="819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9DA6FDEF-8C78-0E32-2917-CCD99680794E}"/>
              </a:ext>
            </a:extLst>
          </p:cNvPr>
          <p:cNvSpPr/>
          <p:nvPr/>
        </p:nvSpPr>
        <p:spPr>
          <a:xfrm>
            <a:off x="5994045" y="6271856"/>
            <a:ext cx="397853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45205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E754-5E72-1A48-4056-8647BE02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9E1F3-CE3B-E667-B0D2-B4C4EDD2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Live Demo: Code Cells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E41B63C-0863-537D-BAD3-571BC03F4324}"/>
              </a:ext>
            </a:extLst>
          </p:cNvPr>
          <p:cNvCxnSpPr/>
          <p:nvPr/>
        </p:nvCxnSpPr>
        <p:spPr>
          <a:xfrm>
            <a:off x="5592813" y="2471030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6C47DB3-5F59-D33A-C5B9-36E2BFBEF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5693"/>
            <a:ext cx="10515600" cy="614363"/>
          </a:xfrm>
        </p:spPr>
        <p:txBody>
          <a:bodyPr/>
          <a:lstStyle/>
          <a:p>
            <a:r>
              <a:rPr lang="en-US" dirty="0"/>
              <a:t>Execute Cell: Shift + Enter or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612F07-EABE-1A02-2C95-D6E9C653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813" y="6022895"/>
            <a:ext cx="1200318" cy="819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F4BF9FD-8D71-4A4F-8787-08F71C912BCE}"/>
              </a:ext>
            </a:extLst>
          </p:cNvPr>
          <p:cNvSpPr/>
          <p:nvPr/>
        </p:nvSpPr>
        <p:spPr>
          <a:xfrm>
            <a:off x="5994045" y="6271856"/>
            <a:ext cx="397853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87341D0-DE2B-F9AC-A4AE-FD8A783D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34" y="1853486"/>
            <a:ext cx="4296375" cy="91452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ECC3670-026C-D814-205A-894FD86B9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131" y="1853486"/>
            <a:ext cx="4782217" cy="1238423"/>
          </a:xfrm>
          <a:prstGeom prst="rect">
            <a:avLst/>
          </a:prstGeom>
        </p:spPr>
      </p:pic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D9F4AD8F-4BDC-2AE0-8609-29E5EB0DF752}"/>
              </a:ext>
            </a:extLst>
          </p:cNvPr>
          <p:cNvSpPr txBox="1">
            <a:spLocks/>
          </p:cNvSpPr>
          <p:nvPr/>
        </p:nvSpPr>
        <p:spPr>
          <a:xfrm>
            <a:off x="935171" y="3178072"/>
            <a:ext cx="10515600" cy="2603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Number indicates execution</a:t>
            </a:r>
          </a:p>
          <a:p>
            <a:r>
              <a:rPr lang="en-US" dirty="0"/>
              <a:t>Errors appear in Red</a:t>
            </a:r>
          </a:p>
          <a:p>
            <a:pPr lvl="1"/>
            <a:r>
              <a:rPr lang="en-US" dirty="0"/>
              <a:t>Pay attention to last line</a:t>
            </a: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184222A-C566-C6EB-E13E-F8F4F3466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1599" y="3535236"/>
            <a:ext cx="6639852" cy="1819529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10AD3319-3526-4B0D-C981-12DD69F7C5C5}"/>
              </a:ext>
            </a:extLst>
          </p:cNvPr>
          <p:cNvSpPr/>
          <p:nvPr/>
        </p:nvSpPr>
        <p:spPr>
          <a:xfrm>
            <a:off x="5994045" y="5000746"/>
            <a:ext cx="4693005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43980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7B0CE-7DC0-819C-F261-F065DA0C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you: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74A43-D253-113D-6F80-1F1390F3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open the file “Tasks_1_2_example_notebook.ipynb” and execute the cells</a:t>
            </a:r>
          </a:p>
          <a:p>
            <a:pPr lvl="1"/>
            <a:r>
              <a:rPr lang="en-US" dirty="0"/>
              <a:t>In case of problems: Ask us</a:t>
            </a:r>
          </a:p>
          <a:p>
            <a:r>
              <a:rPr lang="en-US" dirty="0"/>
              <a:t>Time: 30 Minutes (</a:t>
            </a:r>
            <a:r>
              <a:rPr lang="en-US" dirty="0" err="1"/>
              <a:t>inkl</a:t>
            </a:r>
            <a:r>
              <a:rPr lang="en-US" dirty="0"/>
              <a:t>. Coffee Break)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F106ADC-FBA4-ACF7-7EEE-2246F375288C}"/>
              </a:ext>
            </a:extLst>
          </p:cNvPr>
          <p:cNvGrpSpPr/>
          <p:nvPr/>
        </p:nvGrpSpPr>
        <p:grpSpPr>
          <a:xfrm>
            <a:off x="7105099" y="2169567"/>
            <a:ext cx="1860594" cy="1917801"/>
            <a:chOff x="4777950" y="3719475"/>
            <a:chExt cx="2278875" cy="2278875"/>
          </a:xfrm>
        </p:grpSpPr>
        <p:pic>
          <p:nvPicPr>
            <p:cNvPr id="5" name="Grafik 4" descr="Kaffeebohnen Silhouette">
              <a:extLst>
                <a:ext uri="{FF2B5EF4-FFF2-40B4-BE49-F238E27FC236}">
                  <a16:creationId xmlns:a16="http://schemas.microsoft.com/office/drawing/2014/main" id="{7F8733AF-5082-5E1A-91ED-5339A2C1B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6850" y="4716057"/>
              <a:ext cx="914400" cy="914400"/>
            </a:xfrm>
            <a:prstGeom prst="rect">
              <a:avLst/>
            </a:prstGeom>
          </p:spPr>
        </p:pic>
        <p:pic>
          <p:nvPicPr>
            <p:cNvPr id="7" name="Grafik 6" descr="Kaffee Silhouette">
              <a:extLst>
                <a:ext uri="{FF2B5EF4-FFF2-40B4-BE49-F238E27FC236}">
                  <a16:creationId xmlns:a16="http://schemas.microsoft.com/office/drawing/2014/main" id="{29B55E6C-CFE5-F4C3-85AE-00A407EA5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77950" y="3719475"/>
              <a:ext cx="2278875" cy="2278875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325B4943-B072-D393-0EBA-8BF69475F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063" y="3927210"/>
            <a:ext cx="3882009" cy="281191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6817064-AAD6-E679-0674-E8FD90237499}"/>
              </a:ext>
            </a:extLst>
          </p:cNvPr>
          <p:cNvSpPr txBox="1"/>
          <p:nvPr/>
        </p:nvSpPr>
        <p:spPr>
          <a:xfrm>
            <a:off x="5984072" y="6354375"/>
            <a:ext cx="5451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https://dev.to/codeitbro/15-funniest-and-hilarious-python-coding-memes-2aij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9696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Breitbild</PresentationFormat>
  <Paragraphs>141</Paragraphs>
  <Slides>18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</vt:lpstr>
      <vt:lpstr>Python Course for Physicists (And everyone else!) Chunk 1: Introduction &amp; Setup</vt:lpstr>
      <vt:lpstr>Background &amp; About Me</vt:lpstr>
      <vt:lpstr>The Tutors</vt:lpstr>
      <vt:lpstr>About You: (Experimental) Questionare</vt:lpstr>
      <vt:lpstr>General Information – Times and Dates</vt:lpstr>
      <vt:lpstr>General Information – Lecturing Type</vt:lpstr>
      <vt:lpstr>Why Coding?</vt:lpstr>
      <vt:lpstr>Own Examples</vt:lpstr>
      <vt:lpstr>Why Python?</vt:lpstr>
      <vt:lpstr>Comparison to other languages, (dis)advantages of Python</vt:lpstr>
      <vt:lpstr>Learning goals</vt:lpstr>
      <vt:lpstr>What is a program?</vt:lpstr>
      <vt:lpstr>2,5 Ways of Coding in Python</vt:lpstr>
      <vt:lpstr>2,5 Ways of Coding in Python: Notebooks</vt:lpstr>
      <vt:lpstr>Notebook Live Demo: Cells</vt:lpstr>
      <vt:lpstr>Notebook Live Demo: Markdown Cells</vt:lpstr>
      <vt:lpstr>Notebook Live Demo: Code Cells</vt:lpstr>
      <vt:lpstr>Now you: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2025-10-04T14:10:10Z</dcterms:modified>
</cp:coreProperties>
</file>