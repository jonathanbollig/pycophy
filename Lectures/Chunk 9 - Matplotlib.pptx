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70" r:id="rId3"/>
    <p:sldId id="271" r:id="rId4"/>
    <p:sldId id="272" r:id="rId5"/>
    <p:sldId id="273" r:id="rId6"/>
    <p:sldId id="274" r:id="rId7"/>
    <p:sldId id="275" r:id="rId8"/>
    <p:sldId id="267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76" autoAdjust="0"/>
  </p:normalViewPr>
  <p:slideViewPr>
    <p:cSldViewPr snapToGrid="0">
      <p:cViewPr varScale="1">
        <p:scale>
          <a:sx n="139" d="100"/>
          <a:sy n="139" d="100"/>
        </p:scale>
        <p:origin x="10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Bollig" userId="8b5d0afe-f106-45e0-8c3f-fd98fa124db1" providerId="ADAL" clId="{B108959E-8160-4214-BA0D-42D2F1070C03}"/>
    <pc:docChg chg="undo custSel addSld modSld sldOrd">
      <pc:chgData name="Jonathan Bollig" userId="8b5d0afe-f106-45e0-8c3f-fd98fa124db1" providerId="ADAL" clId="{B108959E-8160-4214-BA0D-42D2F1070C03}" dt="2025-08-18T09:38:51.161" v="3588" actId="20577"/>
      <pc:docMkLst>
        <pc:docMk/>
      </pc:docMkLst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836289018" sldId="256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3656329933" sldId="257"/>
        </pc:sldMkLst>
      </pc:sldChg>
      <pc:sldChg chg="addSp delSp modSp new mod modNotesTx">
        <pc:chgData name="Jonathan Bollig" userId="8b5d0afe-f106-45e0-8c3f-fd98fa124db1" providerId="ADAL" clId="{B108959E-8160-4214-BA0D-42D2F1070C03}" dt="2025-08-18T09:08:46.312" v="2773" actId="20577"/>
        <pc:sldMkLst>
          <pc:docMk/>
          <pc:sldMk cId="544279955" sldId="258"/>
        </pc:sldMkLst>
      </pc:sldChg>
      <pc:sldChg chg="addSp modSp new mod">
        <pc:chgData name="Jonathan Bollig" userId="8b5d0afe-f106-45e0-8c3f-fd98fa124db1" providerId="ADAL" clId="{B108959E-8160-4214-BA0D-42D2F1070C03}" dt="2025-08-17T17:17:31.026" v="2605" actId="20577"/>
        <pc:sldMkLst>
          <pc:docMk/>
          <pc:sldMk cId="2169503629" sldId="259"/>
        </pc:sldMkLst>
      </pc:sldChg>
      <pc:sldChg chg="modSp new mod">
        <pc:chgData name="Jonathan Bollig" userId="8b5d0afe-f106-45e0-8c3f-fd98fa124db1" providerId="ADAL" clId="{B108959E-8160-4214-BA0D-42D2F1070C03}" dt="2025-08-18T09:38:51.161" v="3588" actId="20577"/>
        <pc:sldMkLst>
          <pc:docMk/>
          <pc:sldMk cId="2533283895" sldId="260"/>
        </pc:sldMkLst>
      </pc:sldChg>
      <pc:sldChg chg="addSp delSp modSp new mod setBg">
        <pc:chgData name="Jonathan Bollig" userId="8b5d0afe-f106-45e0-8c3f-fd98fa124db1" providerId="ADAL" clId="{B108959E-8160-4214-BA0D-42D2F1070C03}" dt="2025-08-17T17:07:09.185" v="2483" actId="5793"/>
        <pc:sldMkLst>
          <pc:docMk/>
          <pc:sldMk cId="847849653" sldId="261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1908144578" sldId="262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4076698392" sldId="263"/>
        </pc:sldMkLst>
      </pc:sldChg>
      <pc:sldChg chg="modSp new mod">
        <pc:chgData name="Jonathan Bollig" userId="8b5d0afe-f106-45e0-8c3f-fd98fa124db1" providerId="ADAL" clId="{B108959E-8160-4214-BA0D-42D2F1070C03}" dt="2025-08-17T17:04:25.114" v="2368" actId="20577"/>
        <pc:sldMkLst>
          <pc:docMk/>
          <pc:sldMk cId="3708449378" sldId="264"/>
        </pc:sldMkLst>
      </pc:sldChg>
      <pc:sldChg chg="addSp delSp modSp new mod modNotesTx">
        <pc:chgData name="Jonathan Bollig" userId="8b5d0afe-f106-45e0-8c3f-fd98fa124db1" providerId="ADAL" clId="{B108959E-8160-4214-BA0D-42D2F1070C03}" dt="2025-08-18T09:38:09.362" v="3531" actId="20577"/>
        <pc:sldMkLst>
          <pc:docMk/>
          <pc:sldMk cId="933916611" sldId="265"/>
        </pc:sldMkLst>
      </pc:sldChg>
      <pc:sldChg chg="modSp new mod ord">
        <pc:chgData name="Jonathan Bollig" userId="8b5d0afe-f106-45e0-8c3f-fd98fa124db1" providerId="ADAL" clId="{B108959E-8160-4214-BA0D-42D2F1070C03}" dt="2025-08-18T09:21:09.777" v="2944" actId="20577"/>
        <pc:sldMkLst>
          <pc:docMk/>
          <pc:sldMk cId="2117799034" sldId="266"/>
        </pc:sldMkLst>
      </pc:sldChg>
    </pc:docChg>
  </pc:docChgLst>
  <pc:docChgLst>
    <pc:chgData name="Jonathan Bollig" userId="8b5d0afe-f106-45e0-8c3f-fd98fa124db1" providerId="ADAL" clId="{B2469FA9-EBD8-4834-A16D-CBF8EFC907DD}"/>
    <pc:docChg chg="custSel addSld delSld modSld">
      <pc:chgData name="Jonathan Bollig" userId="8b5d0afe-f106-45e0-8c3f-fd98fa124db1" providerId="ADAL" clId="{B2469FA9-EBD8-4834-A16D-CBF8EFC907DD}" dt="2025-10-07T00:02:20.001" v="20" actId="20577"/>
      <pc:docMkLst>
        <pc:docMk/>
      </pc:docMkLst>
      <pc:sldChg chg="modSp mod">
        <pc:chgData name="Jonathan Bollig" userId="8b5d0afe-f106-45e0-8c3f-fd98fa124db1" providerId="ADAL" clId="{B2469FA9-EBD8-4834-A16D-CBF8EFC907DD}" dt="2025-10-07T00:02:20.001" v="20" actId="20577"/>
        <pc:sldMkLst>
          <pc:docMk/>
          <pc:sldMk cId="836289018" sldId="256"/>
        </pc:sldMkLst>
        <pc:spChg chg="mod">
          <ac:chgData name="Jonathan Bollig" userId="8b5d0afe-f106-45e0-8c3f-fd98fa124db1" providerId="ADAL" clId="{B2469FA9-EBD8-4834-A16D-CBF8EFC907DD}" dt="2025-09-30T13:24:16.541" v="12" actId="6549"/>
          <ac:spMkLst>
            <pc:docMk/>
            <pc:sldMk cId="836289018" sldId="256"/>
            <ac:spMk id="2" creationId="{40F72F59-52B3-6063-A2E3-2AA45125A99B}"/>
          </ac:spMkLst>
        </pc:spChg>
        <pc:spChg chg="mod">
          <ac:chgData name="Jonathan Bollig" userId="8b5d0afe-f106-45e0-8c3f-fd98fa124db1" providerId="ADAL" clId="{B2469FA9-EBD8-4834-A16D-CBF8EFC907DD}" dt="2025-10-07T00:02:20.001" v="20" actId="20577"/>
          <ac:spMkLst>
            <pc:docMk/>
            <pc:sldMk cId="836289018" sldId="256"/>
            <ac:spMk id="3" creationId="{62F76653-44B5-8707-B179-FDB90CB514B7}"/>
          </ac:spMkLst>
        </pc:spChg>
      </pc:sldChg>
      <pc:sldChg chg="add del">
        <pc:chgData name="Jonathan Bollig" userId="8b5d0afe-f106-45e0-8c3f-fd98fa124db1" providerId="ADAL" clId="{B2469FA9-EBD8-4834-A16D-CBF8EFC907DD}" dt="2025-10-01T19:19:23.559" v="15" actId="47"/>
        <pc:sldMkLst>
          <pc:docMk/>
          <pc:sldMk cId="2169503629" sldId="259"/>
        </pc:sldMkLst>
      </pc:sldChg>
      <pc:sldChg chg="del">
        <pc:chgData name="Jonathan Bollig" userId="8b5d0afe-f106-45e0-8c3f-fd98fa124db1" providerId="ADAL" clId="{B2469FA9-EBD8-4834-A16D-CBF8EFC907DD}" dt="2025-09-29T18:19:05.919" v="10" actId="47"/>
        <pc:sldMkLst>
          <pc:docMk/>
          <pc:sldMk cId="932306145" sldId="260"/>
        </pc:sldMkLst>
      </pc:sldChg>
      <pc:sldChg chg="add">
        <pc:chgData name="Jonathan Bollig" userId="8b5d0afe-f106-45e0-8c3f-fd98fa124db1" providerId="ADAL" clId="{B2469FA9-EBD8-4834-A16D-CBF8EFC907DD}" dt="2025-10-01T16:46:41.864" v="13"/>
        <pc:sldMkLst>
          <pc:docMk/>
          <pc:sldMk cId="2138807736" sldId="267"/>
        </pc:sldMkLst>
      </pc:sldChg>
      <pc:sldChg chg="add del">
        <pc:chgData name="Jonathan Bollig" userId="8b5d0afe-f106-45e0-8c3f-fd98fa124db1" providerId="ADAL" clId="{B2469FA9-EBD8-4834-A16D-CBF8EFC907DD}" dt="2025-10-02T22:34:59.093" v="17" actId="47"/>
        <pc:sldMkLst>
          <pc:docMk/>
          <pc:sldMk cId="2385805343" sldId="268"/>
        </pc:sldMkLst>
      </pc:sldChg>
      <pc:sldChg chg="modSp add">
        <pc:chgData name="Jonathan Bollig" userId="8b5d0afe-f106-45e0-8c3f-fd98fa124db1" providerId="ADAL" clId="{B2469FA9-EBD8-4834-A16D-CBF8EFC907DD}" dt="2025-10-04T21:37:04.844" v="18"/>
        <pc:sldMkLst>
          <pc:docMk/>
          <pc:sldMk cId="2113368255" sldId="269"/>
        </pc:sldMkLst>
      </pc:sldChg>
    </pc:docChg>
  </pc:docChgLst>
  <pc:docChgLst>
    <pc:chgData name="Jonathan Bollig" userId="8b5d0afe-f106-45e0-8c3f-fd98fa124db1" providerId="ADAL" clId="{891409C9-2319-433B-8001-2E1CE368518E}"/>
    <pc:docChg chg="custSel addSld delSld modSld">
      <pc:chgData name="Jonathan Bollig" userId="8b5d0afe-f106-45e0-8c3f-fd98fa124db1" providerId="ADAL" clId="{891409C9-2319-433B-8001-2E1CE368518E}" dt="2025-08-18T13:33:56.347" v="46" actId="47"/>
      <pc:docMkLst>
        <pc:docMk/>
      </pc:docMkLst>
      <pc:sldChg chg="modSp mod">
        <pc:chgData name="Jonathan Bollig" userId="8b5d0afe-f106-45e0-8c3f-fd98fa124db1" providerId="ADAL" clId="{891409C9-2319-433B-8001-2E1CE368518E}" dt="2025-08-18T10:03:07.320" v="7" actId="20577"/>
        <pc:sldMkLst>
          <pc:docMk/>
          <pc:sldMk cId="836289018" sldId="256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3656329933" sldId="257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544279955" sldId="258"/>
        </pc:sldMkLst>
      </pc:sldChg>
      <pc:sldChg chg="delSp modSp del mod">
        <pc:chgData name="Jonathan Bollig" userId="8b5d0afe-f106-45e0-8c3f-fd98fa124db1" providerId="ADAL" clId="{891409C9-2319-433B-8001-2E1CE368518E}" dt="2025-08-18T13:33:56.347" v="46" actId="47"/>
        <pc:sldMkLst>
          <pc:docMk/>
          <pc:sldMk cId="2169503629" sldId="259"/>
        </pc:sldMkLst>
      </pc:sldChg>
      <pc:sldChg chg="add">
        <pc:chgData name="Jonathan Bollig" userId="8b5d0afe-f106-45e0-8c3f-fd98fa124db1" providerId="ADAL" clId="{891409C9-2319-433B-8001-2E1CE368518E}" dt="2025-08-18T13:33:54.473" v="45"/>
        <pc:sldMkLst>
          <pc:docMk/>
          <pc:sldMk cId="932306145" sldId="260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2533283895" sldId="260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847849653" sldId="261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1908144578" sldId="262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4076698392" sldId="263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3708449378" sldId="264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933916611" sldId="265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2117799034" sldId="266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12:50:17.0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1 460 24575,'0'-8'0,"1"-1"0,0 2 0,0-1 0,2 0 0,-2 1 0,1 0 0,0-2 0,0 2 0,5-7 0,29-60 0,28-26 0,-48 78 0,0-2 0,-1 0 0,20-42 0,-35 64 0,1-1 0,0 1 0,1 0 0,-2-1 0,1 1 0,2 1 0,-3-2 0,2 1 0,-1 1 0,0-1 0,1 0 0,-1 0 0,1 1 0,0 0 0,-1-1 0,1 1 0,-1 0 0,1 0 0,0 0 0,1 0 0,-2 1 0,1-2 0,3 2 0,-1 0 0,1 2 0,-1 0 0,0-1 0,0 1 0,-1 0 0,2 0 0,-2 2 0,1-2 0,0 1 0,4 6 0,84 72 0,-81-75 0,3 1 0,-2-2 0,1 0 0,0 0 0,0-3 0,1 0 0,14 2 0,36 6 0,-42-5 0,-15-4 0,-3-1 0,3 2 0,-3-1 0,2 1 0,0 0 0,-1 1 0,1-1 0,-2 2 0,11 6 0,-15-10 0,0 0 0,0 2 0,0-2 0,0 0 0,0 0 0,0 1 0,0-1 0,0 0 0,0 0 0,0 1 0,0-1 0,0 0 0,0 0 0,0 1 0,0-1 0,0 0 0,0 0 0,0 1 0,0-1 0,0 0 0,0 0 0,-1 2 0,1-2 0,0 0 0,0 0 0,0 0 0,0 1 0,0-1 0,0 0 0,0 0 0,0 0 0,0 0 0,-1 0 0,1 1 0,0-1 0,0 0 0,-2 0 0,2 0 0,0 0 0,0 0 0,-1 0 0,1 0 0,0 0 0,0 0 0,0 0 0,0 0 0,0 0 0,0 0 0,-1 0 0,1 0 0,0 0 0,0 0 0,-1 0 0,1-1 0,-16 4 0,5-3 0,-1 0 0,0-1 0,0 0 0,0-1 0,0-1 0,1-2 0,-1 2 0,1-3 0,0 0 0,0 0 0,-15-13 0,0-3 0,0-2 0,1-2 0,-27-35 0,49 56 0,-1 0 0,0 2 0,0-1 0,1 0 0,-2 1 0,1-1 0,0 2 0,-1 0 0,0-1 0,1 1 0,0 1 0,-8-3 0,10 4 0,-1 0 0,1 0 0,-1 0 0,0 0 0,0 1 0,0-1 0,1 2 0,-1-1 0,1-1 0,-1 2 0,0-1 0,1 0 0,1 1 0,-3 0 0,2 0 0,0 1 0,-1-2 0,2 1 0,-2 2 0,2-2 0,-1 1 0,-3 5 0,-13 24 0,-1-1 0,-1-3 0,-41 48 0,52-66-124,1 2 0,0 0 0,0 0 0,1 0 0,0 2 0,2-1-1,-2 1 1,3-1 0,-2 2 0,-4 20 0,7-12-6702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CA2EE-5589-4682-AD7F-744DBF1E81F5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422C3B-6429-4381-8F08-B422F3CD22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5335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will learn the “quick and dirty” way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1129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FCF529-6DEB-E4D7-0BD9-323EA01FE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0A0E300-420E-2525-45D3-8E24E86553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4E483A-3866-69B8-A89A-06A5A3E30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07D74D-6C79-794C-3A7B-4CD9682F7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767471-AF72-F522-F9C8-D1A8101E3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9403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F82442-23ED-51AB-B11E-C02EE9E3C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5FB6CC-3344-41C2-A7A9-FD97D9669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07B756-CC70-5D1A-65F0-BA36F617D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85BC57-ADDF-8A28-E847-CC5388E87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BB58D5-33D2-895E-A1A1-B41693431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1485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901EFF-BBAC-2399-8E9A-E8BAA4E44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BE4AE0-C619-049A-0BFF-AABE41A1A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797E34-3D02-2C07-C28B-87084EE45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153033-0611-C734-89B6-24CF035A1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52151C-1EF6-0973-739A-CBA570628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2549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3067E4-4EE1-0B07-E683-D619F240D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B02DFB-CB33-5ECE-A637-0EBDBC1A75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03045C-02DD-7BE7-9D86-2EE9AC88C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C612DC-44A9-D801-F1BC-F14FD9587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08FCD2-BFCE-54F3-9D30-4AA255654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735D20-9B8C-8A3B-63B6-035CC49E2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6976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5CBE7C-525A-D42E-E43F-0886C6464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39B155-7C21-DB95-30C2-DFCF32763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63A585B-18F2-C2E6-525C-F3883BD39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604D96C-CC87-E3F5-6F91-706502CB0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7C7A36B-3651-D77A-A0B4-353DF95295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4156916-057E-51F8-534D-84F55E027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1DEEBCE-5AD5-1E00-C91F-1DCDCF02A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89CAFB6-90CF-5D1B-FD47-FEA656B88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6234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F4A36E-BFB2-E755-260D-DC02A115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9899B6E-645D-169A-C3CC-DACA9EC3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79B3EA0-178A-0100-B821-DBBB3C8E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CF4684F-962A-8067-27D8-5FB58870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076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ED9DF99-987F-078B-23F2-AD0C4F0C8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CEA8323-CC55-B01B-2104-F1FD0E3EB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A6C53B-2330-836A-D0BC-2E01904D1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230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F77C76-5BC9-E091-FC9B-7EAB5780A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D8A66E-18EF-064A-EB20-9A88AC8F4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15291D1-EE4A-7FCA-2355-022D506AB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E07462-E862-1A7D-3909-8E6323F76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A74FE35-B109-0707-821C-FBF101671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C136A12-4DCB-232D-7C95-F83C2777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7852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987360-94B1-2F3A-B700-56EDD9945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A9C14D8-D370-D9C7-6410-4FBED8CAE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D3279D0-F11A-49B0-40AD-F12A7DE04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BEC391-9770-5D80-C8C5-6C61CAD43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7A2F6D-EA0A-15A4-4DC8-DF3E9C11F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510ED1-8967-4C84-EA21-7BB69B1F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5622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82EFBA-051E-825F-CC2D-B65084EF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AECEC60-3BB2-2938-8C9A-E34393D9A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C506D0-407A-6516-0839-997884630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ACE59F-C71F-8D11-72A2-C5901636F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9BA130-BB20-D464-AC08-B1794AD36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8142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61BD65F-595C-B872-7ED9-463BC365DC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74D87C7-FA6C-26D2-FD57-AAE3DC3ED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B85D20-1712-38B6-B0DE-C61507896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376EB8-8D04-2976-85D4-2ADF4FA3A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40E5B9-8C2B-0AD6-70BD-4E96EAFC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2221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3DDC3FE-CC3F-9BDA-0DA8-AC0AE97EC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A997B66-C9C9-C5C2-4F68-B1ED0F53F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88C302-6259-AA12-6D15-F895C1B9C2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50A006-B53F-FC11-600B-D61C8B8E3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9E1156-7578-F688-1D91-BA880DD71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4266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matplotlib.org/stable/gallery/index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F72F59-52B3-6063-A2E3-2AA45125A9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Python Course for Physicists</a:t>
            </a:r>
            <a:br>
              <a:rPr lang="en-US" noProof="0" dirty="0"/>
            </a:br>
            <a:r>
              <a:rPr lang="en-US" noProof="0" dirty="0"/>
              <a:t>(And everyone else!)</a:t>
            </a:r>
            <a:br>
              <a:rPr lang="en-US" noProof="0" dirty="0"/>
            </a:br>
            <a:r>
              <a:rPr lang="en-US" noProof="0" dirty="0"/>
              <a:t>Chunk 9: Matplotlib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2F76653-44B5-8707-B179-FDB90CB514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By Jonathan Bollig</a:t>
            </a:r>
          </a:p>
          <a:p>
            <a:r>
              <a:rPr lang="en-US" noProof="0"/>
              <a:t>09.10.2025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36289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D10673-F919-74A9-E66E-F8AE60C28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Visualizing your Data: Matplotlib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2378552-CF81-2425-9D97-8D4099AC1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Most used plotting and visualization library</a:t>
            </a:r>
          </a:p>
          <a:p>
            <a:r>
              <a:rPr lang="en-US" noProof="0" dirty="0">
                <a:hlinkClick r:id="rId2"/>
              </a:rPr>
              <a:t>Examples</a:t>
            </a:r>
            <a:endParaRPr lang="en-US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FAD074A-CEE3-BA7C-7B66-85FC57806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5737" y="2331720"/>
            <a:ext cx="5063624" cy="443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319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02727D-356B-AE56-D94A-0E5E42768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Getting Started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664B24-6B6A-B42D-F170-C7BBDEBCB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4769"/>
            <a:ext cx="10515600" cy="4351338"/>
          </a:xfrm>
        </p:spPr>
        <p:txBody>
          <a:bodyPr/>
          <a:lstStyle/>
          <a:p>
            <a:r>
              <a:rPr lang="en-US" noProof="0" dirty="0"/>
              <a:t>Anaconda </a:t>
            </a:r>
            <a:r>
              <a:rPr lang="en-US" noProof="0" dirty="0" err="1"/>
              <a:t>Powershell</a:t>
            </a:r>
            <a:r>
              <a:rPr lang="en-US" noProof="0" dirty="0"/>
              <a:t> Prompt: </a:t>
            </a:r>
            <a:r>
              <a:rPr lang="en-US" noProof="0" dirty="0" err="1"/>
              <a:t>conda</a:t>
            </a:r>
            <a:r>
              <a:rPr lang="en-US" noProof="0" dirty="0"/>
              <a:t> install matplotlib</a:t>
            </a:r>
            <a:br>
              <a:rPr lang="en-US" noProof="0" dirty="0"/>
            </a:br>
            <a:r>
              <a:rPr lang="en-US" noProof="0" dirty="0"/>
              <a:t>(See chunk 7 – imports for details)</a:t>
            </a:r>
          </a:p>
          <a:p>
            <a:r>
              <a:rPr lang="en-US" noProof="0" dirty="0"/>
              <a:t>Restart Kernel (if used before)</a:t>
            </a:r>
          </a:p>
          <a:p>
            <a:r>
              <a:rPr lang="en-US" noProof="0" dirty="0">
                <a:highlight>
                  <a:srgbClr val="C0C0C0"/>
                </a:highlight>
              </a:rPr>
              <a:t>import </a:t>
            </a:r>
            <a:r>
              <a:rPr lang="en-US" noProof="0" dirty="0" err="1">
                <a:highlight>
                  <a:srgbClr val="C0C0C0"/>
                </a:highlight>
              </a:rPr>
              <a:t>matplotlib.pyplot</a:t>
            </a:r>
            <a:r>
              <a:rPr lang="en-US" noProof="0" dirty="0">
                <a:highlight>
                  <a:srgbClr val="C0C0C0"/>
                </a:highlight>
              </a:rPr>
              <a:t> as </a:t>
            </a:r>
            <a:r>
              <a:rPr lang="en-US" noProof="0" dirty="0" err="1">
                <a:highlight>
                  <a:srgbClr val="C0C0C0"/>
                </a:highlight>
              </a:rPr>
              <a:t>plt</a:t>
            </a:r>
            <a:endParaRPr lang="en-US" noProof="0" dirty="0">
              <a:highlight>
                <a:srgbClr val="C0C0C0"/>
              </a:highlight>
            </a:endParaRPr>
          </a:p>
          <a:p>
            <a:r>
              <a:rPr lang="en-US" noProof="0" dirty="0"/>
              <a:t>Try: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2089579-9305-274C-2E41-91CDBEB1CBA2}"/>
              </a:ext>
            </a:extLst>
          </p:cNvPr>
          <p:cNvSpPr/>
          <p:nvPr/>
        </p:nvSpPr>
        <p:spPr>
          <a:xfrm>
            <a:off x="6599160" y="2672414"/>
            <a:ext cx="1442987" cy="367966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0" dirty="0"/>
              <a:t>submodule</a:t>
            </a:r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83E960E3-F188-2704-15F4-6E648078D13A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4869180" y="2856397"/>
            <a:ext cx="1729980" cy="49487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Rechteck 10">
            <a:extLst>
              <a:ext uri="{FF2B5EF4-FFF2-40B4-BE49-F238E27FC236}">
                <a16:creationId xmlns:a16="http://schemas.microsoft.com/office/drawing/2014/main" id="{0BBD611C-6D2E-7FC6-868D-E11393AD770A}"/>
              </a:ext>
            </a:extLst>
          </p:cNvPr>
          <p:cNvSpPr/>
          <p:nvPr/>
        </p:nvSpPr>
        <p:spPr>
          <a:xfrm>
            <a:off x="6783564" y="3302230"/>
            <a:ext cx="1442987" cy="367966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0" dirty="0"/>
              <a:t>submodule</a:t>
            </a: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5D7CA3BD-A7AF-D4C2-C924-25D5E96FD2FA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5861304" y="3486213"/>
            <a:ext cx="922260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" name="Grafik 8">
            <a:extLst>
              <a:ext uri="{FF2B5EF4-FFF2-40B4-BE49-F238E27FC236}">
                <a16:creationId xmlns:a16="http://schemas.microsoft.com/office/drawing/2014/main" id="{CF74B820-743F-AE0B-DC21-49D631062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965" y="3797576"/>
            <a:ext cx="3125608" cy="30604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93992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CF570D-B543-5D70-1554-A325E22B1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Two Types of Plotting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A7F3C94-F46D-CA53-B793-B813A7BE1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80915"/>
          </a:xfrm>
        </p:spPr>
        <p:txBody>
          <a:bodyPr>
            <a:normAutofit/>
          </a:bodyPr>
          <a:lstStyle/>
          <a:p>
            <a:r>
              <a:rPr lang="en-US" noProof="0" dirty="0"/>
              <a:t>Two ways to use matplotlib: Quick &amp; dirty or the clean way.</a:t>
            </a:r>
          </a:p>
          <a:p>
            <a:r>
              <a:rPr lang="en-US" noProof="0" dirty="0"/>
              <a:t>Quick &amp; dirty:</a:t>
            </a:r>
          </a:p>
          <a:p>
            <a:pPr lvl="1"/>
            <a:r>
              <a:rPr lang="en-US" noProof="0" dirty="0"/>
              <a:t>Less code</a:t>
            </a:r>
          </a:p>
          <a:p>
            <a:pPr lvl="1"/>
            <a:r>
              <a:rPr lang="en-US" noProof="0" dirty="0"/>
              <a:t>Faster to learn</a:t>
            </a:r>
          </a:p>
          <a:p>
            <a:pPr lvl="1"/>
            <a:r>
              <a:rPr lang="en-US" noProof="0" dirty="0"/>
              <a:t>Limited</a:t>
            </a:r>
          </a:p>
          <a:p>
            <a:r>
              <a:rPr lang="en-US" noProof="0" dirty="0"/>
              <a:t>Clean way:</a:t>
            </a:r>
          </a:p>
          <a:p>
            <a:pPr lvl="1"/>
            <a:r>
              <a:rPr lang="en-US" noProof="0" dirty="0"/>
              <a:t>A little more boilerplate code</a:t>
            </a:r>
          </a:p>
          <a:p>
            <a:pPr lvl="1"/>
            <a:r>
              <a:rPr lang="en-US" noProof="0" dirty="0"/>
              <a:t>Slightly different coding “style”</a:t>
            </a:r>
          </a:p>
          <a:p>
            <a:pPr lvl="1"/>
            <a:r>
              <a:rPr lang="en-US" noProof="0" dirty="0"/>
              <a:t>Better for complex plotting (e. g. multiple plots next to each other)</a:t>
            </a:r>
          </a:p>
          <a:p>
            <a:r>
              <a:rPr lang="en-US" noProof="0" dirty="0"/>
              <a:t>Problem: Codes are similar, but slightly different</a:t>
            </a:r>
            <a:br>
              <a:rPr lang="en-US" noProof="0" dirty="0"/>
            </a:br>
            <a:r>
              <a:rPr lang="en-US" noProof="0" dirty="0">
                <a:sym typeface="Wingdings" panose="05000000000000000000" pitchFamily="2" charset="2"/>
              </a:rPr>
              <a:t> Be aware when googling stuff</a:t>
            </a:r>
            <a:endParaRPr lang="en-US" noProof="0" dirty="0"/>
          </a:p>
          <a:p>
            <a:pPr lvl="1"/>
            <a:endParaRPr lang="en-US" noProof="0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F3CD64E-9485-9180-568D-C8C7352B026C}"/>
              </a:ext>
            </a:extLst>
          </p:cNvPr>
          <p:cNvSpPr/>
          <p:nvPr/>
        </p:nvSpPr>
        <p:spPr>
          <a:xfrm>
            <a:off x="1128008" y="2334642"/>
            <a:ext cx="2506731" cy="1642998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D39321F-C091-7968-69DF-3A71EFECF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803" y="2529447"/>
            <a:ext cx="3133085" cy="2037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9C8B5D72-A95F-BFB2-5442-0C27AA2344B8}"/>
              </a:ext>
            </a:extLst>
          </p:cNvPr>
          <p:cNvSpPr/>
          <p:nvPr/>
        </p:nvSpPr>
        <p:spPr>
          <a:xfrm>
            <a:off x="6257803" y="3323718"/>
            <a:ext cx="1441446" cy="256158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6B66FE42-0696-7EC3-FCA4-353C0F76DBE9}"/>
              </a:ext>
            </a:extLst>
          </p:cNvPr>
          <p:cNvSpPr/>
          <p:nvPr/>
        </p:nvSpPr>
        <p:spPr>
          <a:xfrm>
            <a:off x="6240905" y="4253356"/>
            <a:ext cx="1764668" cy="256159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29588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6C9B24-E7C8-8C7A-4387-9E7363D85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Basics of Plotting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631EA98-DBFC-ACF9-6714-8B49EC8F4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65520" cy="4351338"/>
          </a:xfrm>
        </p:spPr>
        <p:txBody>
          <a:bodyPr/>
          <a:lstStyle/>
          <a:p>
            <a:r>
              <a:rPr lang="en-US" dirty="0" err="1">
                <a:highlight>
                  <a:srgbClr val="C0C0C0"/>
                </a:highlight>
              </a:rPr>
              <a:t>plt.plot</a:t>
            </a:r>
            <a:r>
              <a:rPr lang="en-US" dirty="0">
                <a:highlight>
                  <a:srgbClr val="C0C0C0"/>
                </a:highlight>
              </a:rPr>
              <a:t>()</a:t>
            </a:r>
            <a:r>
              <a:rPr lang="en-US" dirty="0"/>
              <a:t>: Can be used in two ways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Passing y-data </a:t>
            </a:r>
            <a:r>
              <a:rPr lang="en-US" dirty="0">
                <a:sym typeface="Wingdings" panose="05000000000000000000" pitchFamily="2" charset="2"/>
              </a:rPr>
              <a:t> x-Axis is the index</a:t>
            </a: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Passing x- and y-data:  normal  axis</a:t>
            </a: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r>
              <a:rPr lang="en-US" dirty="0" err="1">
                <a:highlight>
                  <a:srgbClr val="C0C0C0"/>
                </a:highlight>
                <a:sym typeface="Wingdings" panose="05000000000000000000" pitchFamily="2" charset="2"/>
              </a:rPr>
              <a:t>plt.show</a:t>
            </a:r>
            <a:r>
              <a:rPr lang="en-US" dirty="0">
                <a:highlight>
                  <a:srgbClr val="C0C0C0"/>
                </a:highlight>
                <a:sym typeface="Wingdings" panose="05000000000000000000" pitchFamily="2" charset="2"/>
              </a:rPr>
              <a:t>()</a:t>
            </a:r>
            <a:r>
              <a:rPr lang="en-US" dirty="0">
                <a:sym typeface="Wingdings" panose="05000000000000000000" pitchFamily="2" charset="2"/>
              </a:rPr>
              <a:t>: Generates the plot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Mostly works without </a:t>
            </a:r>
            <a:r>
              <a:rPr lang="en-US" dirty="0" err="1">
                <a:sym typeface="Wingdings" panose="05000000000000000000" pitchFamily="2" charset="2"/>
              </a:rPr>
              <a:t>plt.show</a:t>
            </a:r>
            <a:r>
              <a:rPr lang="en-US" dirty="0">
                <a:sym typeface="Wingdings" panose="05000000000000000000" pitchFamily="2" charset="2"/>
              </a:rPr>
              <a:t>() but good practice to use it. 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D2BA9D9-4B2B-8272-96D4-C4A92F630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5043" y="566928"/>
            <a:ext cx="2951774" cy="29672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CFE0BD70-6BC7-B4CA-B1D6-89D68C774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5043" y="3649576"/>
            <a:ext cx="2951774" cy="29361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4D11052D-6D16-3D89-93C1-2E460827477A}"/>
              </a:ext>
            </a:extLst>
          </p:cNvPr>
          <p:cNvSpPr/>
          <p:nvPr/>
        </p:nvSpPr>
        <p:spPr>
          <a:xfrm>
            <a:off x="8569484" y="937260"/>
            <a:ext cx="716248" cy="164592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39ED41D0-47B8-D951-1D6C-372CA9504B6A}"/>
              </a:ext>
            </a:extLst>
          </p:cNvPr>
          <p:cNvSpPr/>
          <p:nvPr/>
        </p:nvSpPr>
        <p:spPr>
          <a:xfrm>
            <a:off x="8569484" y="4027932"/>
            <a:ext cx="912844" cy="164592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458B71D-02FE-7F7E-13FE-56AEE41B9C29}"/>
              </a:ext>
            </a:extLst>
          </p:cNvPr>
          <p:cNvSpPr/>
          <p:nvPr/>
        </p:nvSpPr>
        <p:spPr>
          <a:xfrm>
            <a:off x="8854471" y="3204972"/>
            <a:ext cx="2632345" cy="260604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D83C4753-EF59-B2AE-B563-7ADCAA1BD9CC}"/>
              </a:ext>
            </a:extLst>
          </p:cNvPr>
          <p:cNvSpPr/>
          <p:nvPr/>
        </p:nvSpPr>
        <p:spPr>
          <a:xfrm>
            <a:off x="8796559" y="6311900"/>
            <a:ext cx="2632345" cy="260604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Geschweifte Klammer links 13">
            <a:extLst>
              <a:ext uri="{FF2B5EF4-FFF2-40B4-BE49-F238E27FC236}">
                <a16:creationId xmlns:a16="http://schemas.microsoft.com/office/drawing/2014/main" id="{EE559132-9B5A-09CC-FFA9-B358EAFD2BA1}"/>
              </a:ext>
            </a:extLst>
          </p:cNvPr>
          <p:cNvSpPr/>
          <p:nvPr/>
        </p:nvSpPr>
        <p:spPr>
          <a:xfrm>
            <a:off x="8030551" y="566928"/>
            <a:ext cx="371475" cy="3008376"/>
          </a:xfrm>
          <a:prstGeom prst="leftBrac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Geschweifte Klammer links 14">
            <a:extLst>
              <a:ext uri="{FF2B5EF4-FFF2-40B4-BE49-F238E27FC236}">
                <a16:creationId xmlns:a16="http://schemas.microsoft.com/office/drawing/2014/main" id="{55B5164B-0B50-1D82-16FF-6C15939F8841}"/>
              </a:ext>
            </a:extLst>
          </p:cNvPr>
          <p:cNvSpPr/>
          <p:nvPr/>
        </p:nvSpPr>
        <p:spPr>
          <a:xfrm>
            <a:off x="8030551" y="3613482"/>
            <a:ext cx="371475" cy="3008376"/>
          </a:xfrm>
          <a:prstGeom prst="leftBrac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0E1F9355-0D50-8DC6-D36F-14D88F1203AC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6373368" y="2071116"/>
            <a:ext cx="1657183" cy="80467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B564B734-0371-5B36-F368-D831D5870C52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6665976" y="3781044"/>
            <a:ext cx="1364575" cy="133662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4022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E228F4-D6BF-0686-7749-6CFF808B2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Adding to your Plot	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5A62FD-132C-03C0-AF0D-41AC31FA0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data: repeat </a:t>
            </a:r>
            <a:r>
              <a:rPr lang="en-US" dirty="0" err="1">
                <a:highlight>
                  <a:srgbClr val="C0C0C0"/>
                </a:highlight>
              </a:rPr>
              <a:t>plt.plot</a:t>
            </a:r>
            <a:r>
              <a:rPr lang="en-US" dirty="0">
                <a:highlight>
                  <a:srgbClr val="C0C0C0"/>
                </a:highlight>
              </a:rPr>
              <a:t>()</a:t>
            </a:r>
          </a:p>
          <a:p>
            <a:r>
              <a:rPr lang="en-US" dirty="0"/>
              <a:t> Add x- and y-label to your plot: </a:t>
            </a:r>
            <a:r>
              <a:rPr lang="en-US" dirty="0" err="1">
                <a:highlight>
                  <a:srgbClr val="C0C0C0"/>
                </a:highlight>
              </a:rPr>
              <a:t>plt.xlabel</a:t>
            </a:r>
            <a:r>
              <a:rPr lang="en-US" dirty="0">
                <a:highlight>
                  <a:srgbClr val="C0C0C0"/>
                </a:highlight>
              </a:rPr>
              <a:t>(“x”) </a:t>
            </a:r>
            <a:r>
              <a:rPr lang="en-US" dirty="0"/>
              <a:t>and </a:t>
            </a:r>
            <a:r>
              <a:rPr lang="en-US" dirty="0" err="1">
                <a:highlight>
                  <a:srgbClr val="C0C0C0"/>
                </a:highlight>
              </a:rPr>
              <a:t>plt.ylabel</a:t>
            </a:r>
            <a:r>
              <a:rPr lang="en-US" dirty="0">
                <a:highlight>
                  <a:srgbClr val="C0C0C0"/>
                </a:highlight>
              </a:rPr>
              <a:t>(“y”)</a:t>
            </a:r>
          </a:p>
          <a:p>
            <a:r>
              <a:rPr lang="en-US" dirty="0"/>
              <a:t>Add a background grid: </a:t>
            </a:r>
            <a:r>
              <a:rPr lang="en-US" dirty="0" err="1">
                <a:highlight>
                  <a:srgbClr val="C0C0C0"/>
                </a:highlight>
              </a:rPr>
              <a:t>plt.grid</a:t>
            </a:r>
            <a:r>
              <a:rPr lang="en-US" dirty="0">
                <a:highlight>
                  <a:srgbClr val="C0C0C0"/>
                </a:highlight>
              </a:rPr>
              <a:t>()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F60C346-3BA7-D17B-69F7-5FB6E8C0A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512" y="3651329"/>
            <a:ext cx="2716537" cy="30206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ABC570F-6937-7203-3E9E-DB17F9079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8561" y="3337561"/>
            <a:ext cx="2839640" cy="34289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A6DD291D-B089-007A-5B1F-18E0963146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5621" y="3168396"/>
            <a:ext cx="2730724" cy="35981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051C5B6A-DC2F-C3AE-D607-2C12E778B676}"/>
              </a:ext>
            </a:extLst>
          </p:cNvPr>
          <p:cNvCxnSpPr>
            <a:cxnSpLocks/>
          </p:cNvCxnSpPr>
          <p:nvPr/>
        </p:nvCxnSpPr>
        <p:spPr>
          <a:xfrm>
            <a:off x="3932486" y="5264896"/>
            <a:ext cx="488638" cy="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2188F141-649E-58C4-5D44-A39F31B88096}"/>
              </a:ext>
            </a:extLst>
          </p:cNvPr>
          <p:cNvCxnSpPr>
            <a:cxnSpLocks/>
          </p:cNvCxnSpPr>
          <p:nvPr/>
        </p:nvCxnSpPr>
        <p:spPr>
          <a:xfrm>
            <a:off x="7619042" y="5264896"/>
            <a:ext cx="488638" cy="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3068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893350-A90F-4CAC-C319-18CC24B49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Options for </a:t>
            </a:r>
            <a:r>
              <a:rPr lang="en-US" dirty="0" err="1"/>
              <a:t>plt.plot</a:t>
            </a:r>
            <a:r>
              <a:rPr lang="en-US" dirty="0"/>
              <a:t>()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B8F009-0EFF-7B3F-60C4-CA8BD7AC2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Besides x- and y-data, we can pass more optional parameters to the plot() function. To specify what we are passing, we can use “=“.</a:t>
            </a:r>
          </a:p>
          <a:p>
            <a:r>
              <a:rPr lang="en-US" dirty="0"/>
              <a:t>Example: </a:t>
            </a:r>
            <a:r>
              <a:rPr lang="en-US" dirty="0" err="1"/>
              <a:t>plt.plot</a:t>
            </a:r>
            <a:r>
              <a:rPr lang="en-US" dirty="0"/>
              <a:t>(x, y, c=“</a:t>
            </a:r>
            <a:r>
              <a:rPr lang="en-US" dirty="0" err="1"/>
              <a:t>lightgrey</a:t>
            </a:r>
            <a:r>
              <a:rPr lang="en-US" dirty="0"/>
              <a:t>”)</a:t>
            </a:r>
          </a:p>
          <a:p>
            <a:r>
              <a:rPr lang="de-DE" dirty="0"/>
              <a:t>Optional </a:t>
            </a:r>
            <a:r>
              <a:rPr lang="de-DE" dirty="0" err="1"/>
              <a:t>arguments</a:t>
            </a:r>
            <a:r>
              <a:rPr lang="de-DE" dirty="0"/>
              <a:t>:</a:t>
            </a:r>
          </a:p>
          <a:p>
            <a:pPr lvl="1"/>
            <a:r>
              <a:rPr lang="de-DE" dirty="0"/>
              <a:t>c </a:t>
            </a:r>
            <a:r>
              <a:rPr lang="de-DE" dirty="0">
                <a:sym typeface="Wingdings" panose="05000000000000000000" pitchFamily="2" charset="2"/>
              </a:rPr>
              <a:t> Color </a:t>
            </a:r>
            <a:r>
              <a:rPr lang="de-DE" dirty="0" err="1">
                <a:sym typeface="Wingdings" panose="05000000000000000000" pitchFamily="2" charset="2"/>
              </a:rPr>
              <a:t>of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graph</a:t>
            </a:r>
            <a:endParaRPr lang="de-DE" dirty="0">
              <a:sym typeface="Wingdings" panose="05000000000000000000" pitchFamily="2" charset="2"/>
            </a:endParaRPr>
          </a:p>
          <a:p>
            <a:pPr lvl="1"/>
            <a:r>
              <a:rPr lang="de-DE" dirty="0" err="1">
                <a:sym typeface="Wingdings" panose="05000000000000000000" pitchFamily="2" charset="2"/>
              </a:rPr>
              <a:t>linestyle</a:t>
            </a:r>
            <a:r>
              <a:rPr lang="de-DE" dirty="0">
                <a:sym typeface="Wingdings" panose="05000000000000000000" pitchFamily="2" charset="2"/>
              </a:rPr>
              <a:t>  Style </a:t>
            </a:r>
            <a:r>
              <a:rPr lang="de-DE" dirty="0" err="1">
                <a:sym typeface="Wingdings" panose="05000000000000000000" pitchFamily="2" charset="2"/>
              </a:rPr>
              <a:t>of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line</a:t>
            </a:r>
            <a:endParaRPr lang="de-DE" dirty="0">
              <a:sym typeface="Wingdings" panose="05000000000000000000" pitchFamily="2" charset="2"/>
            </a:endParaRPr>
          </a:p>
          <a:p>
            <a:pPr lvl="1"/>
            <a:r>
              <a:rPr lang="de-DE" dirty="0" err="1">
                <a:sym typeface="Wingdings" panose="05000000000000000000" pitchFamily="2" charset="2"/>
              </a:rPr>
              <a:t>label</a:t>
            </a:r>
            <a:r>
              <a:rPr lang="de-DE" dirty="0">
                <a:sym typeface="Wingdings" panose="05000000000000000000" pitchFamily="2" charset="2"/>
              </a:rPr>
              <a:t>  Strings </a:t>
            </a:r>
            <a:r>
              <a:rPr lang="de-DE" dirty="0" err="1">
                <a:sym typeface="Wingdings" panose="05000000000000000000" pitchFamily="2" charset="2"/>
              </a:rPr>
              <a:t>get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imaged</a:t>
            </a:r>
            <a:br>
              <a:rPr lang="de-DE" dirty="0">
                <a:sym typeface="Wingdings" panose="05000000000000000000" pitchFamily="2" charset="2"/>
              </a:rPr>
            </a:br>
            <a:br>
              <a:rPr lang="de-DE" dirty="0">
                <a:sym typeface="Wingdings" panose="05000000000000000000" pitchFamily="2" charset="2"/>
              </a:rPr>
            </a:br>
            <a:br>
              <a:rPr lang="de-DE" dirty="0">
                <a:sym typeface="Wingdings" panose="05000000000000000000" pitchFamily="2" charset="2"/>
              </a:rPr>
            </a:br>
            <a:r>
              <a:rPr lang="de-DE" dirty="0">
                <a:sym typeface="Wingdings" panose="05000000000000000000" pitchFamily="2" charset="2"/>
              </a:rPr>
              <a:t> Need </a:t>
            </a:r>
            <a:r>
              <a:rPr lang="de-DE" dirty="0" err="1">
                <a:sym typeface="Wingdings" panose="05000000000000000000" pitchFamily="2" charset="2"/>
              </a:rPr>
              <a:t>to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call</a:t>
            </a:r>
            <a:r>
              <a:rPr lang="de-DE" dirty="0">
                <a:sym typeface="Wingdings" panose="05000000000000000000" pitchFamily="2" charset="2"/>
              </a:rPr>
              <a:t> legend()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CF806A6-28FF-71E4-227C-E9585D075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580" y="3303664"/>
            <a:ext cx="3771866" cy="2930512"/>
          </a:xfrm>
          <a:prstGeom prst="rect">
            <a:avLst/>
          </a:prstGeom>
        </p:spPr>
      </p:pic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98A891D7-9A3B-3198-0AAD-033215A21184}"/>
              </a:ext>
            </a:extLst>
          </p:cNvPr>
          <p:cNvGrpSpPr/>
          <p:nvPr/>
        </p:nvGrpSpPr>
        <p:grpSpPr>
          <a:xfrm rot="10993526">
            <a:off x="3433467" y="4590065"/>
            <a:ext cx="5799344" cy="841248"/>
            <a:chOff x="8487235" y="4177136"/>
            <a:chExt cx="2199873" cy="841248"/>
          </a:xfrm>
        </p:grpSpPr>
        <p:sp>
          <p:nvSpPr>
            <p:cNvPr id="7" name="Bogen 6">
              <a:extLst>
                <a:ext uri="{FF2B5EF4-FFF2-40B4-BE49-F238E27FC236}">
                  <a16:creationId xmlns:a16="http://schemas.microsoft.com/office/drawing/2014/main" id="{0BABBFAB-798A-6248-3DE2-80E74FE386DF}"/>
                </a:ext>
              </a:extLst>
            </p:cNvPr>
            <p:cNvSpPr/>
            <p:nvPr/>
          </p:nvSpPr>
          <p:spPr>
            <a:xfrm>
              <a:off x="8531603" y="4177136"/>
              <a:ext cx="2155505" cy="841248"/>
            </a:xfrm>
            <a:prstGeom prst="arc">
              <a:avLst>
                <a:gd name="adj1" fmla="val 10743950"/>
                <a:gd name="adj2" fmla="val 0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8" name="Freihand 7">
                  <a:extLst>
                    <a:ext uri="{FF2B5EF4-FFF2-40B4-BE49-F238E27FC236}">
                      <a16:creationId xmlns:a16="http://schemas.microsoft.com/office/drawing/2014/main" id="{AFBD4B00-6C7E-9688-1383-EB4D51FD0464}"/>
                    </a:ext>
                  </a:extLst>
                </p14:cNvPr>
                <p14:cNvContentPartPr/>
                <p14:nvPr/>
              </p14:nvContentPartPr>
              <p14:xfrm rot="12692638" flipV="1">
                <a:off x="8487235" y="4476469"/>
                <a:ext cx="88735" cy="165615"/>
              </p14:xfrm>
            </p:contentPart>
          </mc:Choice>
          <mc:Fallback xmlns="">
            <p:pic>
              <p:nvPicPr>
                <p:cNvPr id="20" name="Freihand 19">
                  <a:extLst>
                    <a:ext uri="{FF2B5EF4-FFF2-40B4-BE49-F238E27FC236}">
                      <a16:creationId xmlns:a16="http://schemas.microsoft.com/office/drawing/2014/main" id="{1147C6B2-FC91-C682-FB16-3DF691E3950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 rot="12692638" flipV="1">
                  <a:off x="8485404" y="4470348"/>
                  <a:ext cx="92396" cy="177856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87512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64A0F1-7BC6-1BD9-7CBF-4AC55674D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00627"/>
            <a:ext cx="10515600" cy="1325563"/>
          </a:xfrm>
        </p:spPr>
        <p:txBody>
          <a:bodyPr/>
          <a:lstStyle/>
          <a:p>
            <a:pPr algn="ctr"/>
            <a:r>
              <a:rPr lang="en-US" noProof="0" dirty="0"/>
              <a:t>Good Luck with your Tasks </a:t>
            </a:r>
            <a:r>
              <a:rPr lang="en-US" noProof="0" dirty="0">
                <a:sym typeface="Wingdings" panose="05000000000000000000" pitchFamily="2" charset="2"/>
              </a:rPr>
              <a:t> </a:t>
            </a:r>
            <a:endParaRPr lang="en-US" noProof="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A7317A4-9187-8219-87B1-6DAC4D98F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7782" y="2449340"/>
            <a:ext cx="4156435" cy="4088619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3DD6F4C5-2AB9-ED08-5423-FF7FA6815C1E}"/>
              </a:ext>
            </a:extLst>
          </p:cNvPr>
          <p:cNvSpPr txBox="1"/>
          <p:nvPr/>
        </p:nvSpPr>
        <p:spPr>
          <a:xfrm>
            <a:off x="4137412" y="6537959"/>
            <a:ext cx="70593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>
                <a:solidFill>
                  <a:schemeClr val="bg2">
                    <a:lumMod val="75000"/>
                  </a:schemeClr>
                </a:solidFill>
              </a:rPr>
              <a:t>[</a:t>
            </a:r>
            <a:r>
              <a:rPr lang="en-GB" sz="1200" dirty="0">
                <a:solidFill>
                  <a:schemeClr val="bg2">
                    <a:lumMod val="75000"/>
                  </a:schemeClr>
                </a:solidFill>
              </a:rPr>
              <a:t>https://python.plainenglish.io/20-funny-programming-memes-that-will-make-your-day-5793a8e1608b</a:t>
            </a:r>
            <a:r>
              <a:rPr lang="en-GB" sz="1200" noProof="0" dirty="0">
                <a:solidFill>
                  <a:schemeClr val="bg2">
                    <a:lumMod val="75000"/>
                  </a:schemeClr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138807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345</Words>
  <Application>Microsoft Office PowerPoint</Application>
  <PresentationFormat>Breitbild</PresentationFormat>
  <Paragraphs>48</Paragraphs>
  <Slides>8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Wingdings</vt:lpstr>
      <vt:lpstr>Office</vt:lpstr>
      <vt:lpstr>Python Course for Physicists (And everyone else!) Chunk 9: Matplotlib</vt:lpstr>
      <vt:lpstr>Visualizing your Data: Matplotlib</vt:lpstr>
      <vt:lpstr>Getting Started</vt:lpstr>
      <vt:lpstr>Two Types of Plotting</vt:lpstr>
      <vt:lpstr>Live Coding: Basics of Plotting</vt:lpstr>
      <vt:lpstr>Live Coding: Adding to your Plot </vt:lpstr>
      <vt:lpstr>Options for plt.plot()</vt:lpstr>
      <vt:lpstr>Good Luck with your Tasks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Bollig</dc:creator>
  <cp:lastModifiedBy>Jonathan Bollig</cp:lastModifiedBy>
  <cp:revision>4</cp:revision>
  <dcterms:created xsi:type="dcterms:W3CDTF">2025-08-17T13:50:44Z</dcterms:created>
  <dcterms:modified xsi:type="dcterms:W3CDTF">2025-10-07T00:02:21Z</dcterms:modified>
</cp:coreProperties>
</file>