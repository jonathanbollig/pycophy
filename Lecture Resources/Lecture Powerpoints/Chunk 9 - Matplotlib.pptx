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5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">
      <pc:chgData name="Jonathan Bollig" userId="8b5d0afe-f106-45e0-8c3f-fd98fa124db1" providerId="ADAL" clId="{B2469FA9-EBD8-4834-A16D-CBF8EFC907DD}" dt="2025-10-07T16:34:13.962" v="39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00:02:20.001" v="20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09-30T13:24:16.541" v="12" actId="6549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20.001" v="20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10-01T16:46:41.864" v="13"/>
        <pc:sldMkLst>
          <pc:docMk/>
          <pc:sldMk cId="2138807736" sldId="267"/>
        </pc:sldMkLst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">
        <pc:chgData name="Jonathan Bollig" userId="8b5d0afe-f106-45e0-8c3f-fd98fa124db1" providerId="ADAL" clId="{B2469FA9-EBD8-4834-A16D-CBF8EFC907DD}" dt="2025-10-04T21:37:04.844" v="18"/>
        <pc:sldMkLst>
          <pc:docMk/>
          <pc:sldMk cId="2113368255" sldId="269"/>
        </pc:sldMkLst>
      </pc:sldChg>
      <pc:sldChg chg="modSp mod">
        <pc:chgData name="Jonathan Bollig" userId="8b5d0afe-f106-45e0-8c3f-fd98fa124db1" providerId="ADAL" clId="{B2469FA9-EBD8-4834-A16D-CBF8EFC907DD}" dt="2025-10-07T16:34:13.962" v="39" actId="20577"/>
        <pc:sldMkLst>
          <pc:docMk/>
          <pc:sldMk cId="2693992445" sldId="271"/>
        </pc:sldMkLst>
        <pc:spChg chg="mod">
          <ac:chgData name="Jonathan Bollig" userId="8b5d0afe-f106-45e0-8c3f-fd98fa124db1" providerId="ADAL" clId="{B2469FA9-EBD8-4834-A16D-CBF8EFC907DD}" dt="2025-10-07T16:34:13.962" v="39" actId="20577"/>
          <ac:spMkLst>
            <pc:docMk/>
            <pc:sldMk cId="2693992445" sldId="271"/>
            <ac:spMk id="2" creationId="{1402727D-356B-AE56-D94A-0E5E42768C9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12:50:17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24575,'0'-8'0,"1"-1"0,0 2 0,0-1 0,2 0 0,-2 1 0,1 0 0,0-2 0,0 2 0,5-7 0,29-60 0,28-26 0,-48 78 0,0-2 0,-1 0 0,20-42 0,-35 64 0,1-1 0,0 1 0,1 0 0,-2-1 0,1 1 0,2 1 0,-3-2 0,2 1 0,-1 1 0,0-1 0,1 0 0,-1 0 0,1 1 0,0 0 0,-1-1 0,1 1 0,-1 0 0,1 0 0,0 0 0,1 0 0,-2 1 0,1-2 0,3 2 0,-1 0 0,1 2 0,-1 0 0,0-1 0,0 1 0,-1 0 0,2 0 0,-2 2 0,1-2 0,0 1 0,4 6 0,84 72 0,-81-75 0,3 1 0,-2-2 0,1 0 0,0 0 0,0-3 0,1 0 0,14 2 0,36 6 0,-42-5 0,-15-4 0,-3-1 0,3 2 0,-3-1 0,2 1 0,0 0 0,-1 1 0,1-1 0,-2 2 0,11 6 0,-15-10 0,0 0 0,0 2 0,0-2 0,0 0 0,0 0 0,0 1 0,0-1 0,0 0 0,0 0 0,0 1 0,0-1 0,0 0 0,0 0 0,0 1 0,0-1 0,0 0 0,0 0 0,0 1 0,0-1 0,0 0 0,0 0 0,-1 2 0,1-2 0,0 0 0,0 0 0,0 0 0,0 1 0,0-1 0,0 0 0,0 0 0,0 0 0,0 0 0,-1 0 0,1 1 0,0-1 0,0 0 0,-2 0 0,2 0 0,0 0 0,0 0 0,-1 0 0,1 0 0,0 0 0,0 0 0,0 0 0,0 0 0,0 0 0,0 0 0,-1 0 0,1 0 0,0 0 0,0 0 0,-1 0 0,1-1 0,-16 4 0,5-3 0,-1 0 0,0-1 0,0 0 0,0-1 0,0-1 0,1-2 0,-1 2 0,1-3 0,0 0 0,0 0 0,-15-13 0,0-3 0,0-2 0,1-2 0,-27-35 0,49 56 0,-1 0 0,0 2 0,0-1 0,1 0 0,-2 1 0,1-1 0,0 2 0,-1 0 0,0-1 0,1 1 0,0 1 0,-8-3 0,10 4 0,-1 0 0,1 0 0,-1 0 0,0 0 0,0 1 0,0-1 0,1 2 0,-1-1 0,1-1 0,-1 2 0,0-1 0,1 0 0,1 1 0,-3 0 0,2 0 0,0 1 0,-1-2 0,2 1 0,-2 2 0,2-2 0,-1 1 0,-3 5 0,-13 24 0,-1-1 0,-1-3 0,-41 48 0,52-66-124,1 2 0,0 0 0,0 0 0,1 0 0,0 2 0,2-1-1,-2 1 1,3-1 0,-2 2 0,-4 20 0,7-12-6702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learn the “quick and dirty” way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12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atplotlib.org/stable/gallery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63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br>
              <a:rPr lang="en-US" noProof="0" dirty="0"/>
            </a:br>
            <a:r>
              <a:rPr lang="en-US" b="1" noProof="0" dirty="0"/>
              <a:t>Chunk 9: Matplotlib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71081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10673-F919-74A9-E66E-F8AE60C2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Visualizing your Data: Matplotlib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78552-CF81-2425-9D97-8D4099AC1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4520878" cy="4351338"/>
          </a:xfrm>
        </p:spPr>
        <p:txBody>
          <a:bodyPr/>
          <a:lstStyle/>
          <a:p>
            <a:r>
              <a:rPr lang="en-US" noProof="0" dirty="0"/>
              <a:t>Most used plotting and visualization library</a:t>
            </a:r>
          </a:p>
          <a:p>
            <a:r>
              <a:rPr lang="en-US" noProof="0" dirty="0">
                <a:hlinkClick r:id="rId2"/>
              </a:rPr>
              <a:t>Examples</a:t>
            </a:r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AD074A-CEE3-BA7C-7B66-85FC57806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878" y="1690688"/>
            <a:ext cx="5063624" cy="44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1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2727D-356B-AE56-D94A-0E5E4276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Live Coding: Getting Started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664B24-6B6A-B42D-F170-C7BBDEBC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769"/>
            <a:ext cx="10515600" cy="4351338"/>
          </a:xfrm>
        </p:spPr>
        <p:txBody>
          <a:bodyPr/>
          <a:lstStyle/>
          <a:p>
            <a:r>
              <a:rPr lang="en-US" noProof="0" dirty="0"/>
              <a:t>Anaconda </a:t>
            </a:r>
            <a:r>
              <a:rPr lang="en-US" noProof="0" dirty="0" err="1"/>
              <a:t>Powershell</a:t>
            </a:r>
            <a:r>
              <a:rPr lang="en-US" noProof="0" dirty="0"/>
              <a:t> Prompt: </a:t>
            </a:r>
            <a:r>
              <a:rPr lang="en-US" noProof="0" dirty="0" err="1"/>
              <a:t>conda</a:t>
            </a:r>
            <a:r>
              <a:rPr lang="en-US" noProof="0" dirty="0"/>
              <a:t> install matplotlib</a:t>
            </a:r>
            <a:br>
              <a:rPr lang="en-US" noProof="0" dirty="0"/>
            </a:br>
            <a:r>
              <a:rPr lang="en-US" noProof="0" dirty="0"/>
              <a:t>(See chunk 7 – imports for details)</a:t>
            </a:r>
          </a:p>
          <a:p>
            <a:r>
              <a:rPr lang="en-US" noProof="0" dirty="0"/>
              <a:t>Restart Kernel (if used before)</a:t>
            </a:r>
          </a:p>
          <a:p>
            <a:r>
              <a:rPr lang="en-US" noProof="0" dirty="0">
                <a:highlight>
                  <a:srgbClr val="C0C0C0"/>
                </a:highlight>
              </a:rPr>
              <a:t>import </a:t>
            </a:r>
            <a:r>
              <a:rPr lang="en-US" noProof="0" dirty="0" err="1">
                <a:highlight>
                  <a:srgbClr val="C0C0C0"/>
                </a:highlight>
              </a:rPr>
              <a:t>matplotlib.pyplot</a:t>
            </a:r>
            <a:r>
              <a:rPr lang="en-US" noProof="0" dirty="0">
                <a:highlight>
                  <a:srgbClr val="C0C0C0"/>
                </a:highlight>
              </a:rPr>
              <a:t> as </a:t>
            </a:r>
            <a:r>
              <a:rPr lang="en-US" noProof="0" dirty="0" err="1">
                <a:highlight>
                  <a:srgbClr val="C0C0C0"/>
                </a:highlight>
              </a:rPr>
              <a:t>plt</a:t>
            </a:r>
            <a:endParaRPr lang="en-US" noProof="0" dirty="0">
              <a:highlight>
                <a:srgbClr val="C0C0C0"/>
              </a:highlight>
            </a:endParaRPr>
          </a:p>
          <a:p>
            <a:r>
              <a:rPr lang="en-US" noProof="0" dirty="0"/>
              <a:t>Try: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089579-9305-274C-2E41-91CDBEB1CBA2}"/>
              </a:ext>
            </a:extLst>
          </p:cNvPr>
          <p:cNvSpPr/>
          <p:nvPr/>
        </p:nvSpPr>
        <p:spPr>
          <a:xfrm>
            <a:off x="6599160" y="2672414"/>
            <a:ext cx="1442987" cy="3679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submodule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3E960E3-F188-2704-15F4-6E648078D13A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869180" y="2856397"/>
            <a:ext cx="1729980" cy="49487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0BBD611C-6D2E-7FC6-868D-E11393AD770A}"/>
              </a:ext>
            </a:extLst>
          </p:cNvPr>
          <p:cNvSpPr/>
          <p:nvPr/>
        </p:nvSpPr>
        <p:spPr>
          <a:xfrm>
            <a:off x="6783564" y="3302230"/>
            <a:ext cx="1442987" cy="3679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submodule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D7CA3BD-A7AF-D4C2-C924-25D5E96FD2F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861304" y="3486213"/>
            <a:ext cx="92226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CF74B820-743F-AE0B-DC21-49D631062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65" y="3797576"/>
            <a:ext cx="3125608" cy="306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399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F570D-B543-5D70-1554-A325E22B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Two Types of Plotting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F3C94-F46D-CA53-B793-B813A7BE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915"/>
          </a:xfrm>
        </p:spPr>
        <p:txBody>
          <a:bodyPr>
            <a:normAutofit/>
          </a:bodyPr>
          <a:lstStyle/>
          <a:p>
            <a:r>
              <a:rPr lang="en-US" noProof="0" dirty="0"/>
              <a:t>Two ways to use matplotlib: Quick &amp; dirty or the clean way.</a:t>
            </a:r>
          </a:p>
          <a:p>
            <a:r>
              <a:rPr lang="en-US" noProof="0" dirty="0"/>
              <a:t>Quick &amp; dirty:</a:t>
            </a:r>
          </a:p>
          <a:p>
            <a:pPr lvl="1"/>
            <a:r>
              <a:rPr lang="en-US" noProof="0" dirty="0"/>
              <a:t>Less code</a:t>
            </a:r>
          </a:p>
          <a:p>
            <a:pPr lvl="1"/>
            <a:r>
              <a:rPr lang="en-US" noProof="0" dirty="0"/>
              <a:t>Faster to learn</a:t>
            </a:r>
          </a:p>
          <a:p>
            <a:pPr lvl="1"/>
            <a:r>
              <a:rPr lang="en-US" noProof="0" dirty="0"/>
              <a:t>Limited</a:t>
            </a:r>
          </a:p>
          <a:p>
            <a:r>
              <a:rPr lang="en-US" noProof="0" dirty="0"/>
              <a:t>Clean way:</a:t>
            </a:r>
          </a:p>
          <a:p>
            <a:pPr lvl="1"/>
            <a:r>
              <a:rPr lang="en-US" noProof="0" dirty="0"/>
              <a:t>A little more boilerplate code</a:t>
            </a:r>
          </a:p>
          <a:p>
            <a:pPr lvl="1"/>
            <a:r>
              <a:rPr lang="en-US" noProof="0" dirty="0"/>
              <a:t>Slightly different coding “style”</a:t>
            </a:r>
          </a:p>
          <a:p>
            <a:pPr lvl="1"/>
            <a:r>
              <a:rPr lang="en-US" noProof="0" dirty="0"/>
              <a:t>Better for complex plotting (e. g. multiple plots next to each other)</a:t>
            </a:r>
          </a:p>
          <a:p>
            <a:r>
              <a:rPr lang="en-US" noProof="0" dirty="0"/>
              <a:t>Problem: Codes are similar, but slightly different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Be aware when googling stuff</a:t>
            </a:r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F3CD64E-9485-9180-568D-C8C7352B026C}"/>
              </a:ext>
            </a:extLst>
          </p:cNvPr>
          <p:cNvSpPr/>
          <p:nvPr/>
        </p:nvSpPr>
        <p:spPr>
          <a:xfrm>
            <a:off x="1128008" y="2334642"/>
            <a:ext cx="2506731" cy="164299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D39321F-C091-7968-69DF-3A71EFEC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803" y="2529447"/>
            <a:ext cx="3133085" cy="2037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C8B5D72-A95F-BFB2-5442-0C27AA2344B8}"/>
              </a:ext>
            </a:extLst>
          </p:cNvPr>
          <p:cNvSpPr/>
          <p:nvPr/>
        </p:nvSpPr>
        <p:spPr>
          <a:xfrm>
            <a:off x="6257803" y="3323718"/>
            <a:ext cx="1441446" cy="25615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B66FE42-0696-7EC3-FCA4-353C0F76DBE9}"/>
              </a:ext>
            </a:extLst>
          </p:cNvPr>
          <p:cNvSpPr/>
          <p:nvPr/>
        </p:nvSpPr>
        <p:spPr>
          <a:xfrm>
            <a:off x="6240905" y="4253356"/>
            <a:ext cx="1764668" cy="2561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958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C9B24-E7C8-8C7A-4387-9E7363D8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Basics of Plotting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31EA98-DBFC-ACF9-6714-8B49EC8F4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65520" cy="4351338"/>
          </a:xfrm>
        </p:spPr>
        <p:txBody>
          <a:bodyPr/>
          <a:lstStyle/>
          <a:p>
            <a:r>
              <a:rPr lang="en-US" dirty="0" err="1">
                <a:highlight>
                  <a:srgbClr val="C0C0C0"/>
                </a:highlight>
              </a:rPr>
              <a:t>plt.plot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: Can be used in two ways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Passing y-data </a:t>
            </a:r>
            <a:r>
              <a:rPr lang="en-US" dirty="0">
                <a:sym typeface="Wingdings" panose="05000000000000000000" pitchFamily="2" charset="2"/>
              </a:rPr>
              <a:t> x-Axis is the index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Passing x- and y-data:  normal  axis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plt.show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()</a:t>
            </a:r>
            <a:r>
              <a:rPr lang="en-US" dirty="0">
                <a:sym typeface="Wingdings" panose="05000000000000000000" pitchFamily="2" charset="2"/>
              </a:rPr>
              <a:t>: Generates the plot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Mostly works without </a:t>
            </a:r>
            <a:r>
              <a:rPr lang="en-US" dirty="0" err="1">
                <a:sym typeface="Wingdings" panose="05000000000000000000" pitchFamily="2" charset="2"/>
              </a:rPr>
              <a:t>plt.show</a:t>
            </a:r>
            <a:r>
              <a:rPr lang="en-US" dirty="0">
                <a:sym typeface="Wingdings" panose="05000000000000000000" pitchFamily="2" charset="2"/>
              </a:rPr>
              <a:t>() but good practice to use it. 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D2BA9D9-4B2B-8272-96D4-C4A92F63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43" y="566928"/>
            <a:ext cx="2951774" cy="2967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FE0BD70-6BC7-B4CA-B1D6-89D68C77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43" y="3649576"/>
            <a:ext cx="2951774" cy="2936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4D11052D-6D16-3D89-93C1-2E460827477A}"/>
              </a:ext>
            </a:extLst>
          </p:cNvPr>
          <p:cNvSpPr/>
          <p:nvPr/>
        </p:nvSpPr>
        <p:spPr>
          <a:xfrm>
            <a:off x="8569484" y="937260"/>
            <a:ext cx="716248" cy="1645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9ED41D0-47B8-D951-1D6C-372CA9504B6A}"/>
              </a:ext>
            </a:extLst>
          </p:cNvPr>
          <p:cNvSpPr/>
          <p:nvPr/>
        </p:nvSpPr>
        <p:spPr>
          <a:xfrm>
            <a:off x="8569484" y="4027932"/>
            <a:ext cx="912844" cy="1645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58B71D-02FE-7F7E-13FE-56AEE41B9C29}"/>
              </a:ext>
            </a:extLst>
          </p:cNvPr>
          <p:cNvSpPr/>
          <p:nvPr/>
        </p:nvSpPr>
        <p:spPr>
          <a:xfrm>
            <a:off x="8854471" y="3204972"/>
            <a:ext cx="2632345" cy="26060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83C4753-EF59-B2AE-B563-7ADCAA1BD9CC}"/>
              </a:ext>
            </a:extLst>
          </p:cNvPr>
          <p:cNvSpPr/>
          <p:nvPr/>
        </p:nvSpPr>
        <p:spPr>
          <a:xfrm>
            <a:off x="8796559" y="6311900"/>
            <a:ext cx="2632345" cy="26060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EE559132-9B5A-09CC-FFA9-B358EAFD2BA1}"/>
              </a:ext>
            </a:extLst>
          </p:cNvPr>
          <p:cNvSpPr/>
          <p:nvPr/>
        </p:nvSpPr>
        <p:spPr>
          <a:xfrm>
            <a:off x="8030551" y="566928"/>
            <a:ext cx="371475" cy="3008376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Geschweifte Klammer links 14">
            <a:extLst>
              <a:ext uri="{FF2B5EF4-FFF2-40B4-BE49-F238E27FC236}">
                <a16:creationId xmlns:a16="http://schemas.microsoft.com/office/drawing/2014/main" id="{55B5164B-0B50-1D82-16FF-6C15939F8841}"/>
              </a:ext>
            </a:extLst>
          </p:cNvPr>
          <p:cNvSpPr/>
          <p:nvPr/>
        </p:nvSpPr>
        <p:spPr>
          <a:xfrm>
            <a:off x="8030551" y="3613482"/>
            <a:ext cx="371475" cy="3008376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E1F9355-0D50-8DC6-D36F-14D88F1203AC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373368" y="2071116"/>
            <a:ext cx="1657183" cy="8046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564B734-0371-5B36-F368-D831D5870C5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665976" y="3781044"/>
            <a:ext cx="1364575" cy="13366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02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228F4-D6BF-0686-7749-6CFF808B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Adding to your Plot	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A62FD-132C-03C0-AF0D-41AC31FA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data: repeat </a:t>
            </a:r>
            <a:r>
              <a:rPr lang="en-US" dirty="0" err="1">
                <a:highlight>
                  <a:srgbClr val="C0C0C0"/>
                </a:highlight>
              </a:rPr>
              <a:t>plt.plot</a:t>
            </a:r>
            <a:r>
              <a:rPr lang="en-US" dirty="0">
                <a:highlight>
                  <a:srgbClr val="C0C0C0"/>
                </a:highlight>
              </a:rPr>
              <a:t>()</a:t>
            </a:r>
          </a:p>
          <a:p>
            <a:r>
              <a:rPr lang="en-US" dirty="0"/>
              <a:t> Add x- and y-label to your plot: </a:t>
            </a:r>
            <a:r>
              <a:rPr lang="en-US" dirty="0" err="1">
                <a:highlight>
                  <a:srgbClr val="C0C0C0"/>
                </a:highlight>
              </a:rPr>
              <a:t>plt.xlabel</a:t>
            </a:r>
            <a:r>
              <a:rPr lang="en-US" dirty="0">
                <a:highlight>
                  <a:srgbClr val="C0C0C0"/>
                </a:highlight>
              </a:rPr>
              <a:t>(“x”) </a:t>
            </a:r>
            <a:r>
              <a:rPr lang="en-US" dirty="0"/>
              <a:t>and </a:t>
            </a:r>
            <a:r>
              <a:rPr lang="en-US" dirty="0" err="1">
                <a:highlight>
                  <a:srgbClr val="C0C0C0"/>
                </a:highlight>
              </a:rPr>
              <a:t>plt.ylabel</a:t>
            </a:r>
            <a:r>
              <a:rPr lang="en-US" dirty="0">
                <a:highlight>
                  <a:srgbClr val="C0C0C0"/>
                </a:highlight>
              </a:rPr>
              <a:t>(“y”)</a:t>
            </a:r>
          </a:p>
          <a:p>
            <a:r>
              <a:rPr lang="en-US" dirty="0"/>
              <a:t>Add a background grid: </a:t>
            </a:r>
            <a:r>
              <a:rPr lang="en-US" dirty="0" err="1">
                <a:highlight>
                  <a:srgbClr val="C0C0C0"/>
                </a:highlight>
              </a:rPr>
              <a:t>plt.grid</a:t>
            </a:r>
            <a:r>
              <a:rPr lang="en-US" dirty="0">
                <a:highlight>
                  <a:srgbClr val="C0C0C0"/>
                </a:highlight>
              </a:rPr>
              <a:t>()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60C346-3BA7-D17B-69F7-5FB6E8C0A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" y="3651329"/>
            <a:ext cx="2716537" cy="30206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ABC570F-6937-7203-3E9E-DB17F907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561" y="3337561"/>
            <a:ext cx="2839640" cy="3428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6DD291D-B089-007A-5B1F-18E096314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621" y="3168396"/>
            <a:ext cx="2730724" cy="3598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51C5B6A-DC2F-C3AE-D607-2C12E778B676}"/>
              </a:ext>
            </a:extLst>
          </p:cNvPr>
          <p:cNvCxnSpPr>
            <a:cxnSpLocks/>
          </p:cNvCxnSpPr>
          <p:nvPr/>
        </p:nvCxnSpPr>
        <p:spPr>
          <a:xfrm>
            <a:off x="3932486" y="5264896"/>
            <a:ext cx="488638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188F141-649E-58C4-5D44-A39F31B88096}"/>
              </a:ext>
            </a:extLst>
          </p:cNvPr>
          <p:cNvCxnSpPr>
            <a:cxnSpLocks/>
          </p:cNvCxnSpPr>
          <p:nvPr/>
        </p:nvCxnSpPr>
        <p:spPr>
          <a:xfrm>
            <a:off x="7619042" y="5264896"/>
            <a:ext cx="488638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06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893350-A90F-4CAC-C319-18CC24B4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</a:t>
            </a:r>
            <a:r>
              <a:rPr lang="en-US" dirty="0" err="1"/>
              <a:t>plt.plot</a:t>
            </a:r>
            <a:r>
              <a:rPr lang="en-US" dirty="0"/>
              <a:t>()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B8F009-0EFF-7B3F-60C4-CA8BD7AC2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Besides x- and y-data, we can pass more optional parameters to the plot() function. To specify what we are passing, we can use “=“.</a:t>
            </a:r>
          </a:p>
          <a:p>
            <a:r>
              <a:rPr lang="en-US" dirty="0"/>
              <a:t>Example: </a:t>
            </a:r>
            <a:r>
              <a:rPr lang="en-US" dirty="0" err="1"/>
              <a:t>plt.plot</a:t>
            </a:r>
            <a:r>
              <a:rPr lang="en-US" dirty="0"/>
              <a:t>(x, y, c=“</a:t>
            </a:r>
            <a:r>
              <a:rPr lang="en-US" dirty="0" err="1"/>
              <a:t>lightgrey</a:t>
            </a:r>
            <a:r>
              <a:rPr lang="en-US" dirty="0"/>
              <a:t>”)</a:t>
            </a:r>
          </a:p>
          <a:p>
            <a:r>
              <a:rPr lang="de-DE" dirty="0"/>
              <a:t>Optional </a:t>
            </a:r>
            <a:r>
              <a:rPr lang="de-DE" dirty="0" err="1"/>
              <a:t>arguments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c </a:t>
            </a:r>
            <a:r>
              <a:rPr lang="de-DE" dirty="0">
                <a:sym typeface="Wingdings" panose="05000000000000000000" pitchFamily="2" charset="2"/>
              </a:rPr>
              <a:t> Color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graph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linestyle</a:t>
            </a:r>
            <a:r>
              <a:rPr lang="de-DE" dirty="0">
                <a:sym typeface="Wingdings" panose="05000000000000000000" pitchFamily="2" charset="2"/>
              </a:rPr>
              <a:t>  Style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line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label</a:t>
            </a:r>
            <a:r>
              <a:rPr lang="de-DE" dirty="0">
                <a:sym typeface="Wingdings" panose="05000000000000000000" pitchFamily="2" charset="2"/>
              </a:rPr>
              <a:t>  Strings </a:t>
            </a:r>
            <a:r>
              <a:rPr lang="de-DE" dirty="0" err="1">
                <a:sym typeface="Wingdings" panose="05000000000000000000" pitchFamily="2" charset="2"/>
              </a:rPr>
              <a:t>get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imaged</a:t>
            </a:r>
            <a:br>
              <a:rPr lang="de-DE" dirty="0">
                <a:sym typeface="Wingdings" panose="05000000000000000000" pitchFamily="2" charset="2"/>
              </a:rPr>
            </a:br>
            <a:br>
              <a:rPr lang="de-DE" dirty="0">
                <a:sym typeface="Wingdings" panose="05000000000000000000" pitchFamily="2" charset="2"/>
              </a:rPr>
            </a:b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 Need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call</a:t>
            </a:r>
            <a:r>
              <a:rPr lang="de-DE" dirty="0">
                <a:sym typeface="Wingdings" panose="05000000000000000000" pitchFamily="2" charset="2"/>
              </a:rPr>
              <a:t> legend()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F806A6-28FF-71E4-227C-E9585D07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80" y="3303664"/>
            <a:ext cx="3771866" cy="2930512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98A891D7-9A3B-3198-0AAD-033215A21184}"/>
              </a:ext>
            </a:extLst>
          </p:cNvPr>
          <p:cNvGrpSpPr/>
          <p:nvPr/>
        </p:nvGrpSpPr>
        <p:grpSpPr>
          <a:xfrm rot="10993526">
            <a:off x="3433467" y="4590065"/>
            <a:ext cx="5799344" cy="841248"/>
            <a:chOff x="8487235" y="4177136"/>
            <a:chExt cx="2199873" cy="841248"/>
          </a:xfrm>
        </p:grpSpPr>
        <p:sp>
          <p:nvSpPr>
            <p:cNvPr id="7" name="Bogen 6">
              <a:extLst>
                <a:ext uri="{FF2B5EF4-FFF2-40B4-BE49-F238E27FC236}">
                  <a16:creationId xmlns:a16="http://schemas.microsoft.com/office/drawing/2014/main" id="{0BABBFAB-798A-6248-3DE2-80E74FE386DF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AFBD4B00-6C7E-9688-1383-EB4D51FD0464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1147C6B2-FC91-C682-FB16-3DF691E395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2692638" flipV="1">
                  <a:off x="8485404" y="4470348"/>
                  <a:ext cx="92396" cy="17785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751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0627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7317A4-9187-8219-87B1-6DAC4D98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781" y="2237765"/>
            <a:ext cx="4156435" cy="40886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DD6F4C5-2AB9-ED08-5423-FF7FA6815C1E}"/>
              </a:ext>
            </a:extLst>
          </p:cNvPr>
          <p:cNvSpPr txBox="1"/>
          <p:nvPr/>
        </p:nvSpPr>
        <p:spPr>
          <a:xfrm>
            <a:off x="4137412" y="6399459"/>
            <a:ext cx="7059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https://python.plainenglish.io/20-funny-programming-memes-that-will-make-your-day-5793a8e1608b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 Chunk 9: Matplotlib</vt:lpstr>
      <vt:lpstr>Visualizing your Data: Matplotlib</vt:lpstr>
      <vt:lpstr>Live Coding: Getting Started</vt:lpstr>
      <vt:lpstr>Two Types of Plotting</vt:lpstr>
      <vt:lpstr>Live Coding: Basics of Plotting</vt:lpstr>
      <vt:lpstr>Live Coding: Adding to your Plot </vt:lpstr>
      <vt:lpstr>Options for plt.plot()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5</cp:revision>
  <dcterms:created xsi:type="dcterms:W3CDTF">2025-08-17T13:50:44Z</dcterms:created>
  <dcterms:modified xsi:type="dcterms:W3CDTF">2025-10-08T15:59:44Z</dcterms:modified>
</cp:coreProperties>
</file>