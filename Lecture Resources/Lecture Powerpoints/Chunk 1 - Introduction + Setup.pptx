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comments/modernComment_10C_C99E1534.xml" ContentType="application/vnd.ms-powerpoint.comments+xml"/>
  <Override PartName="/ppt/notesSlides/notesSlide7.xml" ContentType="application/vnd.openxmlformats-officedocument.presentationml.notesSlide+xml"/>
  <Override PartName="/ppt/comments/modernComment_104_96FED837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1" r:id="rId3"/>
    <p:sldId id="276" r:id="rId4"/>
    <p:sldId id="277" r:id="rId5"/>
    <p:sldId id="263" r:id="rId6"/>
    <p:sldId id="257" r:id="rId7"/>
    <p:sldId id="258" r:id="rId8"/>
    <p:sldId id="266" r:id="rId9"/>
    <p:sldId id="268" r:id="rId10"/>
    <p:sldId id="265" r:id="rId11"/>
    <p:sldId id="260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12A62C-0B7F-ADBA-D7DB-8EC3D3FCC8B4}" name="Erik Prenzel" initials="EP" userId="S::erik.prenzel@uni-jena.de::3eead6c8-a634-4fd6-b9f0-d0a35a89fb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F3830-E145-4E08-AB5D-FC6BD58189DF}" v="12" dt="2025-10-04T12:11:48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55" d="100"/>
          <a:sy n="55" d="100"/>
        </p:scale>
        <p:origin x="10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10C_C99E15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C38645-8A3A-4590-BE03-1273482952C3}" authorId="{A812A62C-0B7F-ADBA-D7DB-8EC3D3FCC8B4}" created="2025-10-07T08:27:49.2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82580532" sldId="268"/>
      <ac:spMk id="3" creationId="{2842771F-DF04-1174-3FF8-EF82B9BFC714}"/>
    </ac:deMkLst>
    <p188:txBody>
      <a:bodyPr/>
      <a:lstStyle/>
      <a:p>
        <a:r>
          <a:rPr lang="de-DE"/>
          <a:t>Da willst du noch was einfügen? Dann lass ich das mal so</a:t>
        </a:r>
      </a:p>
    </p188:txBody>
  </p188:cm>
</p188:cmLst>
</file>

<file path=ppt/comments/modernComment_104_96FED8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2B0A9E-23D6-4381-B299-3F80D4F125ED}" authorId="{A812A62C-0B7F-ADBA-D7DB-8EC3D3FCC8B4}" created="2025-10-07T08:27:14.1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33283895" sldId="260"/>
      <ac:spMk id="3" creationId="{E7F7788F-7BB4-2420-6F85-726B9B09E4A6}"/>
    </ac:deMkLst>
    <p188:txBody>
      <a:bodyPr/>
      <a:lstStyle/>
      <a:p>
        <a:r>
          <a:rPr lang="de-DE"/>
          <a:t>Finde die Folie nicht so nötig, wird eigentlich alles schon eine Folie voher deutlich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49C065-1D23-45EA-839A-4CE80B47A8A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B41B855-C033-4EF7-A1BD-D9914571F348}">
      <dgm:prSet/>
      <dgm:spPr/>
      <dgm:t>
        <a:bodyPr/>
        <a:lstStyle/>
        <a:p>
          <a:r>
            <a:rPr lang="en-US" b="1" dirty="0"/>
            <a:t>Dates: </a:t>
          </a:r>
        </a:p>
      </dgm:t>
    </dgm:pt>
    <dgm:pt modelId="{D43D36E3-70F2-430F-853D-AC607CB98C95}" type="parTrans" cxnId="{8395D48D-3244-40D8-B2EE-73D29D27148B}">
      <dgm:prSet/>
      <dgm:spPr/>
      <dgm:t>
        <a:bodyPr/>
        <a:lstStyle/>
        <a:p>
          <a:endParaRPr lang="en-US"/>
        </a:p>
      </dgm:t>
    </dgm:pt>
    <dgm:pt modelId="{CD4F6D24-B7F3-42CA-AA1E-A8F7CF07AA92}" type="sibTrans" cxnId="{8395D48D-3244-40D8-B2EE-73D29D27148B}">
      <dgm:prSet/>
      <dgm:spPr/>
      <dgm:t>
        <a:bodyPr/>
        <a:lstStyle/>
        <a:p>
          <a:endParaRPr lang="en-US"/>
        </a:p>
      </dgm:t>
    </dgm:pt>
    <dgm:pt modelId="{356824CF-B5F7-4EE8-AE86-15CBED80B27F}">
      <dgm:prSet/>
      <dgm:spPr/>
      <dgm:t>
        <a:bodyPr/>
        <a:lstStyle/>
        <a:p>
          <a:r>
            <a:rPr lang="en-US" b="1" dirty="0"/>
            <a:t>Regular: Wednesday to Friday</a:t>
          </a:r>
        </a:p>
      </dgm:t>
    </dgm:pt>
    <dgm:pt modelId="{AEC1296D-6798-488B-A9A6-752166EE61F1}" type="parTrans" cxnId="{94EDD922-CBEE-469F-BDD4-4C7572DE15FC}">
      <dgm:prSet/>
      <dgm:spPr/>
      <dgm:t>
        <a:bodyPr/>
        <a:lstStyle/>
        <a:p>
          <a:endParaRPr lang="en-US"/>
        </a:p>
      </dgm:t>
    </dgm:pt>
    <dgm:pt modelId="{645BB168-A83A-46FA-9B82-E9E2271C006D}" type="sibTrans" cxnId="{94EDD922-CBEE-469F-BDD4-4C7572DE15FC}">
      <dgm:prSet/>
      <dgm:spPr/>
      <dgm:t>
        <a:bodyPr/>
        <a:lstStyle/>
        <a:p>
          <a:endParaRPr lang="en-US"/>
        </a:p>
      </dgm:t>
    </dgm:pt>
    <dgm:pt modelId="{B7985DAA-800F-4A04-9612-9D9EE16510B8}">
      <dgm:prSet/>
      <dgm:spPr/>
      <dgm:t>
        <a:bodyPr/>
        <a:lstStyle/>
        <a:p>
          <a:r>
            <a:rPr lang="en-US" dirty="0"/>
            <a:t>Maybe Saturday if delayed or for extra “chunks” (Improvised if demanded)</a:t>
          </a:r>
        </a:p>
      </dgm:t>
    </dgm:pt>
    <dgm:pt modelId="{BA2A95DA-F2C7-4F6E-9173-E712FEE2BE69}" type="parTrans" cxnId="{27C0BE20-F019-4041-82A0-D2F90D71BC54}">
      <dgm:prSet/>
      <dgm:spPr/>
      <dgm:t>
        <a:bodyPr/>
        <a:lstStyle/>
        <a:p>
          <a:endParaRPr lang="en-US"/>
        </a:p>
      </dgm:t>
    </dgm:pt>
    <dgm:pt modelId="{5FBE2DC0-C938-45EE-A8AA-A3551D9BBBA5}" type="sibTrans" cxnId="{27C0BE20-F019-4041-82A0-D2F90D71BC54}">
      <dgm:prSet/>
      <dgm:spPr/>
      <dgm:t>
        <a:bodyPr/>
        <a:lstStyle/>
        <a:p>
          <a:endParaRPr lang="en-US"/>
        </a:p>
      </dgm:t>
    </dgm:pt>
    <dgm:pt modelId="{C9D34693-0229-44B4-81B9-21408BE22707}">
      <dgm:prSet/>
      <dgm:spPr/>
      <dgm:t>
        <a:bodyPr/>
        <a:lstStyle/>
        <a:p>
          <a:r>
            <a:rPr lang="en-US" b="1" dirty="0"/>
            <a:t>Times: </a:t>
          </a:r>
        </a:p>
      </dgm:t>
    </dgm:pt>
    <dgm:pt modelId="{477F3CDD-66A3-435A-8813-C3C7FB8F7382}" type="parTrans" cxnId="{287ED20D-CA87-4FAE-8E7D-FE0F00915858}">
      <dgm:prSet/>
      <dgm:spPr/>
      <dgm:t>
        <a:bodyPr/>
        <a:lstStyle/>
        <a:p>
          <a:endParaRPr lang="en-US"/>
        </a:p>
      </dgm:t>
    </dgm:pt>
    <dgm:pt modelId="{6B77B169-809A-4DF9-9EA5-455655995072}" type="sibTrans" cxnId="{287ED20D-CA87-4FAE-8E7D-FE0F00915858}">
      <dgm:prSet/>
      <dgm:spPr/>
      <dgm:t>
        <a:bodyPr/>
        <a:lstStyle/>
        <a:p>
          <a:endParaRPr lang="en-US"/>
        </a:p>
      </dgm:t>
    </dgm:pt>
    <dgm:pt modelId="{706F1A2B-7998-4A24-9CE9-337E4D891DA4}">
      <dgm:prSet/>
      <dgm:spPr/>
      <dgm:t>
        <a:bodyPr/>
        <a:lstStyle/>
        <a:p>
          <a:r>
            <a:rPr lang="en-US" b="1" dirty="0"/>
            <a:t>Start at 09:30</a:t>
          </a:r>
        </a:p>
      </dgm:t>
    </dgm:pt>
    <dgm:pt modelId="{179DD7E1-551E-4F62-9CED-C190F8DEFA9D}" type="parTrans" cxnId="{DD52E037-DD29-4350-81CF-5FFB1A2E91DD}">
      <dgm:prSet/>
      <dgm:spPr/>
      <dgm:t>
        <a:bodyPr/>
        <a:lstStyle/>
        <a:p>
          <a:endParaRPr lang="en-US"/>
        </a:p>
      </dgm:t>
    </dgm:pt>
    <dgm:pt modelId="{37945110-5C4F-4138-8601-AEB6735B3A30}" type="sibTrans" cxnId="{DD52E037-DD29-4350-81CF-5FFB1A2E91DD}">
      <dgm:prSet/>
      <dgm:spPr/>
      <dgm:t>
        <a:bodyPr/>
        <a:lstStyle/>
        <a:p>
          <a:endParaRPr lang="en-US"/>
        </a:p>
      </dgm:t>
    </dgm:pt>
    <dgm:pt modelId="{EA15424F-A4E0-45C5-88FC-E6D0946C428C}">
      <dgm:prSet/>
      <dgm:spPr/>
      <dgm:t>
        <a:bodyPr/>
        <a:lstStyle/>
        <a:p>
          <a:r>
            <a:rPr lang="en-US" dirty="0"/>
            <a:t>Lunchbreak 12:30 – 13:30</a:t>
          </a:r>
        </a:p>
      </dgm:t>
    </dgm:pt>
    <dgm:pt modelId="{04DF8EAE-2A8C-4DBD-A542-72D7904F5AD9}" type="parTrans" cxnId="{96CEE9E2-7A87-4CBA-AC4B-6CBE14966B27}">
      <dgm:prSet/>
      <dgm:spPr/>
      <dgm:t>
        <a:bodyPr/>
        <a:lstStyle/>
        <a:p>
          <a:endParaRPr lang="en-US"/>
        </a:p>
      </dgm:t>
    </dgm:pt>
    <dgm:pt modelId="{BFFEEE62-1E8A-44DB-95A4-5A376C77A0E2}" type="sibTrans" cxnId="{96CEE9E2-7A87-4CBA-AC4B-6CBE14966B27}">
      <dgm:prSet/>
      <dgm:spPr/>
      <dgm:t>
        <a:bodyPr/>
        <a:lstStyle/>
        <a:p>
          <a:endParaRPr lang="en-US"/>
        </a:p>
      </dgm:t>
    </dgm:pt>
    <dgm:pt modelId="{C7ADE189-6835-41A6-90AD-FE17F17B88F7}">
      <dgm:prSet/>
      <dgm:spPr/>
      <dgm:t>
        <a:bodyPr/>
        <a:lstStyle/>
        <a:p>
          <a:r>
            <a:rPr lang="en-US" dirty="0"/>
            <a:t>Finish: ~16:30</a:t>
          </a:r>
        </a:p>
      </dgm:t>
    </dgm:pt>
    <dgm:pt modelId="{AACD65C0-BB0C-4434-BB7C-05DC20D9DEE9}" type="parTrans" cxnId="{AC57AE72-E6EC-4481-A406-9F2C1137E745}">
      <dgm:prSet/>
      <dgm:spPr/>
      <dgm:t>
        <a:bodyPr/>
        <a:lstStyle/>
        <a:p>
          <a:endParaRPr lang="en-US"/>
        </a:p>
      </dgm:t>
    </dgm:pt>
    <dgm:pt modelId="{475EF62B-346C-434F-A674-2229685B28A5}" type="sibTrans" cxnId="{AC57AE72-E6EC-4481-A406-9F2C1137E745}">
      <dgm:prSet/>
      <dgm:spPr/>
      <dgm:t>
        <a:bodyPr/>
        <a:lstStyle/>
        <a:p>
          <a:endParaRPr lang="en-US"/>
        </a:p>
      </dgm:t>
    </dgm:pt>
    <dgm:pt modelId="{778BC973-6B45-4D69-91D7-7078BF8D2565}">
      <dgm:prSet/>
      <dgm:spPr/>
      <dgm:t>
        <a:bodyPr/>
        <a:lstStyle/>
        <a:p>
          <a:r>
            <a:rPr lang="en-US" b="1" dirty="0"/>
            <a:t>Lecturing type:</a:t>
          </a:r>
        </a:p>
      </dgm:t>
    </dgm:pt>
    <dgm:pt modelId="{A3E0CD7C-8E8C-4BB2-89FC-D7058942867F}" type="parTrans" cxnId="{5AEBEAF0-C80F-4743-94AC-DB15D4DAB3AD}">
      <dgm:prSet/>
      <dgm:spPr/>
      <dgm:t>
        <a:bodyPr/>
        <a:lstStyle/>
        <a:p>
          <a:endParaRPr lang="en-US"/>
        </a:p>
      </dgm:t>
    </dgm:pt>
    <dgm:pt modelId="{048D2DC8-61B9-4AB4-8F1D-509661F8CE6E}" type="sibTrans" cxnId="{5AEBEAF0-C80F-4743-94AC-DB15D4DAB3AD}">
      <dgm:prSet/>
      <dgm:spPr/>
      <dgm:t>
        <a:bodyPr/>
        <a:lstStyle/>
        <a:p>
          <a:endParaRPr lang="en-US"/>
        </a:p>
      </dgm:t>
    </dgm:pt>
    <dgm:pt modelId="{966D755C-4097-4049-AF14-531CC5264C36}">
      <dgm:prSet/>
      <dgm:spPr/>
      <dgm:t>
        <a:bodyPr/>
        <a:lstStyle/>
        <a:p>
          <a:r>
            <a:rPr lang="en-US"/>
            <a:t>15-minute lectures (Chunks) with 45-minute practice sessions</a:t>
          </a:r>
        </a:p>
      </dgm:t>
    </dgm:pt>
    <dgm:pt modelId="{DB740241-C7FE-4661-A9AE-420308C40442}" type="parTrans" cxnId="{6E9C056A-324A-46F0-90AB-18D3AE6CD224}">
      <dgm:prSet/>
      <dgm:spPr/>
      <dgm:t>
        <a:bodyPr/>
        <a:lstStyle/>
        <a:p>
          <a:endParaRPr lang="en-US"/>
        </a:p>
      </dgm:t>
    </dgm:pt>
    <dgm:pt modelId="{9948B1BF-82F8-42B1-8D5E-3634A4325069}" type="sibTrans" cxnId="{6E9C056A-324A-46F0-90AB-18D3AE6CD224}">
      <dgm:prSet/>
      <dgm:spPr/>
      <dgm:t>
        <a:bodyPr/>
        <a:lstStyle/>
        <a:p>
          <a:endParaRPr lang="en-US"/>
        </a:p>
      </dgm:t>
    </dgm:pt>
    <dgm:pt modelId="{C886D6D4-E9DC-4DE8-8625-6330DAB7D655}">
      <dgm:prSet/>
      <dgm:spPr/>
      <dgm:t>
        <a:bodyPr/>
        <a:lstStyle/>
        <a:p>
          <a:r>
            <a:rPr lang="en-US"/>
            <a:t>3 chunks before and 3 after lunch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18 chunks in total</a:t>
          </a:r>
        </a:p>
      </dgm:t>
    </dgm:pt>
    <dgm:pt modelId="{2B3350D9-C7A7-44AE-BE52-A68A302286AE}" type="parTrans" cxnId="{3F195A3E-222C-46FD-97B4-F9688021057A}">
      <dgm:prSet/>
      <dgm:spPr/>
      <dgm:t>
        <a:bodyPr/>
        <a:lstStyle/>
        <a:p>
          <a:endParaRPr lang="en-US"/>
        </a:p>
      </dgm:t>
    </dgm:pt>
    <dgm:pt modelId="{68AE7BD5-050F-4413-9487-2C7731264930}" type="sibTrans" cxnId="{3F195A3E-222C-46FD-97B4-F9688021057A}">
      <dgm:prSet/>
      <dgm:spPr/>
      <dgm:t>
        <a:bodyPr/>
        <a:lstStyle/>
        <a:p>
          <a:endParaRPr lang="en-US"/>
        </a:p>
      </dgm:t>
    </dgm:pt>
    <dgm:pt modelId="{BAC4AA60-594A-403C-8DCD-66BA15CE97D6}">
      <dgm:prSet/>
      <dgm:spPr/>
      <dgm:t>
        <a:bodyPr/>
        <a:lstStyle/>
        <a:p>
          <a:r>
            <a:rPr lang="en-US"/>
            <a:t>Exception: Now</a:t>
          </a:r>
        </a:p>
      </dgm:t>
    </dgm:pt>
    <dgm:pt modelId="{8C2D6E61-6AC9-4396-AF15-8E5846260F77}" type="parTrans" cxnId="{924D171B-202A-4C6C-814C-E8647260BF2F}">
      <dgm:prSet/>
      <dgm:spPr/>
      <dgm:t>
        <a:bodyPr/>
        <a:lstStyle/>
        <a:p>
          <a:endParaRPr lang="en-US"/>
        </a:p>
      </dgm:t>
    </dgm:pt>
    <dgm:pt modelId="{415DDDFC-0B64-44AE-AD81-7F56536D168D}" type="sibTrans" cxnId="{924D171B-202A-4C6C-814C-E8647260BF2F}">
      <dgm:prSet/>
      <dgm:spPr/>
      <dgm:t>
        <a:bodyPr/>
        <a:lstStyle/>
        <a:p>
          <a:endParaRPr lang="en-US"/>
        </a:p>
      </dgm:t>
    </dgm:pt>
    <dgm:pt modelId="{237294FA-7810-4D6D-9824-1041746CEC41}" type="pres">
      <dgm:prSet presAssocID="{4249C065-1D23-45EA-839A-4CE80B47A8A5}" presName="linear" presStyleCnt="0">
        <dgm:presLayoutVars>
          <dgm:dir/>
          <dgm:animLvl val="lvl"/>
          <dgm:resizeHandles val="exact"/>
        </dgm:presLayoutVars>
      </dgm:prSet>
      <dgm:spPr/>
    </dgm:pt>
    <dgm:pt modelId="{EAC72ADB-650E-4D19-81ED-E96095E8B547}" type="pres">
      <dgm:prSet presAssocID="{9B41B855-C033-4EF7-A1BD-D9914571F348}" presName="parentLin" presStyleCnt="0"/>
      <dgm:spPr/>
    </dgm:pt>
    <dgm:pt modelId="{60F19E82-B1E6-4FCB-8F32-9E8E7F2B7F40}" type="pres">
      <dgm:prSet presAssocID="{9B41B855-C033-4EF7-A1BD-D9914571F348}" presName="parentLeftMargin" presStyleLbl="node1" presStyleIdx="0" presStyleCnt="3"/>
      <dgm:spPr/>
    </dgm:pt>
    <dgm:pt modelId="{4E02171A-A339-402D-B6F5-DA96C81C6DF5}" type="pres">
      <dgm:prSet presAssocID="{9B41B855-C033-4EF7-A1BD-D9914571F3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9F1751-462A-45D9-BEFC-988C382F84E5}" type="pres">
      <dgm:prSet presAssocID="{9B41B855-C033-4EF7-A1BD-D9914571F348}" presName="negativeSpace" presStyleCnt="0"/>
      <dgm:spPr/>
    </dgm:pt>
    <dgm:pt modelId="{6DD7ED8A-B7F0-432A-B87D-F53EC72676FC}" type="pres">
      <dgm:prSet presAssocID="{9B41B855-C033-4EF7-A1BD-D9914571F348}" presName="childText" presStyleLbl="conFgAcc1" presStyleIdx="0" presStyleCnt="3">
        <dgm:presLayoutVars>
          <dgm:bulletEnabled val="1"/>
        </dgm:presLayoutVars>
      </dgm:prSet>
      <dgm:spPr/>
    </dgm:pt>
    <dgm:pt modelId="{8CCC6C76-EB5F-4D2C-9A42-E0D5F2E58C5E}" type="pres">
      <dgm:prSet presAssocID="{CD4F6D24-B7F3-42CA-AA1E-A8F7CF07AA92}" presName="spaceBetweenRectangles" presStyleCnt="0"/>
      <dgm:spPr/>
    </dgm:pt>
    <dgm:pt modelId="{BE0A4DD1-E178-4E2D-A844-57C62678A502}" type="pres">
      <dgm:prSet presAssocID="{C9D34693-0229-44B4-81B9-21408BE22707}" presName="parentLin" presStyleCnt="0"/>
      <dgm:spPr/>
    </dgm:pt>
    <dgm:pt modelId="{FA1BA3F8-5AED-4F30-B3C0-55C5C38C0FA0}" type="pres">
      <dgm:prSet presAssocID="{C9D34693-0229-44B4-81B9-21408BE22707}" presName="parentLeftMargin" presStyleLbl="node1" presStyleIdx="0" presStyleCnt="3"/>
      <dgm:spPr/>
    </dgm:pt>
    <dgm:pt modelId="{6E78701B-3853-4C0D-8C8D-9D507EFF4768}" type="pres">
      <dgm:prSet presAssocID="{C9D34693-0229-44B4-81B9-21408BE227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0760D0-AF15-459A-947B-596D99E4B1A1}" type="pres">
      <dgm:prSet presAssocID="{C9D34693-0229-44B4-81B9-21408BE22707}" presName="negativeSpace" presStyleCnt="0"/>
      <dgm:spPr/>
    </dgm:pt>
    <dgm:pt modelId="{E70F3DDC-8B52-4C14-8109-7573AC1C972A}" type="pres">
      <dgm:prSet presAssocID="{C9D34693-0229-44B4-81B9-21408BE22707}" presName="childText" presStyleLbl="conFgAcc1" presStyleIdx="1" presStyleCnt="3">
        <dgm:presLayoutVars>
          <dgm:bulletEnabled val="1"/>
        </dgm:presLayoutVars>
      </dgm:prSet>
      <dgm:spPr/>
    </dgm:pt>
    <dgm:pt modelId="{0121C589-D1B5-4212-826C-7D46782B848F}" type="pres">
      <dgm:prSet presAssocID="{6B77B169-809A-4DF9-9EA5-455655995072}" presName="spaceBetweenRectangles" presStyleCnt="0"/>
      <dgm:spPr/>
    </dgm:pt>
    <dgm:pt modelId="{FFAA81AA-CD60-45E9-A2BE-7DBAEE2551F3}" type="pres">
      <dgm:prSet presAssocID="{778BC973-6B45-4D69-91D7-7078BF8D2565}" presName="parentLin" presStyleCnt="0"/>
      <dgm:spPr/>
    </dgm:pt>
    <dgm:pt modelId="{54F6E89D-64B9-4EAB-A90A-53754F9A1675}" type="pres">
      <dgm:prSet presAssocID="{778BC973-6B45-4D69-91D7-7078BF8D2565}" presName="parentLeftMargin" presStyleLbl="node1" presStyleIdx="1" presStyleCnt="3"/>
      <dgm:spPr/>
    </dgm:pt>
    <dgm:pt modelId="{8B20BAF0-C0A3-4522-A28C-FFF326AB9121}" type="pres">
      <dgm:prSet presAssocID="{778BC973-6B45-4D69-91D7-7078BF8D256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0C4C313-BB8A-4527-AA50-789F7D22F2C1}" type="pres">
      <dgm:prSet presAssocID="{778BC973-6B45-4D69-91D7-7078BF8D2565}" presName="negativeSpace" presStyleCnt="0"/>
      <dgm:spPr/>
    </dgm:pt>
    <dgm:pt modelId="{CD482387-2F30-46B1-99E9-E0EEC0A9A104}" type="pres">
      <dgm:prSet presAssocID="{778BC973-6B45-4D69-91D7-7078BF8D256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F44DF08-CB7F-4A45-8FC0-1002BD9FA2C2}" type="presOf" srcId="{9B41B855-C033-4EF7-A1BD-D9914571F348}" destId="{4E02171A-A339-402D-B6F5-DA96C81C6DF5}" srcOrd="1" destOrd="0" presId="urn:microsoft.com/office/officeart/2005/8/layout/list1"/>
    <dgm:cxn modelId="{265BE109-0292-4EE8-AF78-8962B22F05DF}" type="presOf" srcId="{B7985DAA-800F-4A04-9612-9D9EE16510B8}" destId="{6DD7ED8A-B7F0-432A-B87D-F53EC72676FC}" srcOrd="0" destOrd="1" presId="urn:microsoft.com/office/officeart/2005/8/layout/list1"/>
    <dgm:cxn modelId="{287ED20D-CA87-4FAE-8E7D-FE0F00915858}" srcId="{4249C065-1D23-45EA-839A-4CE80B47A8A5}" destId="{C9D34693-0229-44B4-81B9-21408BE22707}" srcOrd="1" destOrd="0" parTransId="{477F3CDD-66A3-435A-8813-C3C7FB8F7382}" sibTransId="{6B77B169-809A-4DF9-9EA5-455655995072}"/>
    <dgm:cxn modelId="{09254218-569D-4EA3-96AC-19DE53E90FAE}" type="presOf" srcId="{356824CF-B5F7-4EE8-AE86-15CBED80B27F}" destId="{6DD7ED8A-B7F0-432A-B87D-F53EC72676FC}" srcOrd="0" destOrd="0" presId="urn:microsoft.com/office/officeart/2005/8/layout/list1"/>
    <dgm:cxn modelId="{924D171B-202A-4C6C-814C-E8647260BF2F}" srcId="{778BC973-6B45-4D69-91D7-7078BF8D2565}" destId="{BAC4AA60-594A-403C-8DCD-66BA15CE97D6}" srcOrd="2" destOrd="0" parTransId="{8C2D6E61-6AC9-4396-AF15-8E5846260F77}" sibTransId="{415DDDFC-0B64-44AE-AD81-7F56536D168D}"/>
    <dgm:cxn modelId="{D8A75E1E-01E5-4F47-9242-B9C05C0A43A1}" type="presOf" srcId="{4249C065-1D23-45EA-839A-4CE80B47A8A5}" destId="{237294FA-7810-4D6D-9824-1041746CEC41}" srcOrd="0" destOrd="0" presId="urn:microsoft.com/office/officeart/2005/8/layout/list1"/>
    <dgm:cxn modelId="{27C0BE20-F019-4041-82A0-D2F90D71BC54}" srcId="{9B41B855-C033-4EF7-A1BD-D9914571F348}" destId="{B7985DAA-800F-4A04-9612-9D9EE16510B8}" srcOrd="1" destOrd="0" parTransId="{BA2A95DA-F2C7-4F6E-9173-E712FEE2BE69}" sibTransId="{5FBE2DC0-C938-45EE-A8AA-A3551D9BBBA5}"/>
    <dgm:cxn modelId="{94EDD922-CBEE-469F-BDD4-4C7572DE15FC}" srcId="{9B41B855-C033-4EF7-A1BD-D9914571F348}" destId="{356824CF-B5F7-4EE8-AE86-15CBED80B27F}" srcOrd="0" destOrd="0" parTransId="{AEC1296D-6798-488B-A9A6-752166EE61F1}" sibTransId="{645BB168-A83A-46FA-9B82-E9E2271C006D}"/>
    <dgm:cxn modelId="{A81C7C37-743F-44BD-B354-D5FEF757A901}" type="presOf" srcId="{9B41B855-C033-4EF7-A1BD-D9914571F348}" destId="{60F19E82-B1E6-4FCB-8F32-9E8E7F2B7F40}" srcOrd="0" destOrd="0" presId="urn:microsoft.com/office/officeart/2005/8/layout/list1"/>
    <dgm:cxn modelId="{DD52E037-DD29-4350-81CF-5FFB1A2E91DD}" srcId="{C9D34693-0229-44B4-81B9-21408BE22707}" destId="{706F1A2B-7998-4A24-9CE9-337E4D891DA4}" srcOrd="0" destOrd="0" parTransId="{179DD7E1-551E-4F62-9CED-C190F8DEFA9D}" sibTransId="{37945110-5C4F-4138-8601-AEB6735B3A30}"/>
    <dgm:cxn modelId="{3F195A3E-222C-46FD-97B4-F9688021057A}" srcId="{778BC973-6B45-4D69-91D7-7078BF8D2565}" destId="{C886D6D4-E9DC-4DE8-8625-6330DAB7D655}" srcOrd="1" destOrd="0" parTransId="{2B3350D9-C7A7-44AE-BE52-A68A302286AE}" sibTransId="{68AE7BD5-050F-4413-9487-2C7731264930}"/>
    <dgm:cxn modelId="{F92A4C3F-9BFC-49B7-BA5E-819219959E35}" type="presOf" srcId="{778BC973-6B45-4D69-91D7-7078BF8D2565}" destId="{54F6E89D-64B9-4EAB-A90A-53754F9A1675}" srcOrd="0" destOrd="0" presId="urn:microsoft.com/office/officeart/2005/8/layout/list1"/>
    <dgm:cxn modelId="{A0CDDB47-E0D3-48EA-B5C1-9901D5F63615}" type="presOf" srcId="{C886D6D4-E9DC-4DE8-8625-6330DAB7D655}" destId="{CD482387-2F30-46B1-99E9-E0EEC0A9A104}" srcOrd="0" destOrd="1" presId="urn:microsoft.com/office/officeart/2005/8/layout/list1"/>
    <dgm:cxn modelId="{6E9C056A-324A-46F0-90AB-18D3AE6CD224}" srcId="{778BC973-6B45-4D69-91D7-7078BF8D2565}" destId="{966D755C-4097-4049-AF14-531CC5264C36}" srcOrd="0" destOrd="0" parTransId="{DB740241-C7FE-4661-A9AE-420308C40442}" sibTransId="{9948B1BF-82F8-42B1-8D5E-3634A4325069}"/>
    <dgm:cxn modelId="{24320E4F-7217-49C7-B8F6-72EAD86AD870}" type="presOf" srcId="{778BC973-6B45-4D69-91D7-7078BF8D2565}" destId="{8B20BAF0-C0A3-4522-A28C-FFF326AB9121}" srcOrd="1" destOrd="0" presId="urn:microsoft.com/office/officeart/2005/8/layout/list1"/>
    <dgm:cxn modelId="{AC57AE72-E6EC-4481-A406-9F2C1137E745}" srcId="{C9D34693-0229-44B4-81B9-21408BE22707}" destId="{C7ADE189-6835-41A6-90AD-FE17F17B88F7}" srcOrd="2" destOrd="0" parTransId="{AACD65C0-BB0C-4434-BB7C-05DC20D9DEE9}" sibTransId="{475EF62B-346C-434F-A674-2229685B28A5}"/>
    <dgm:cxn modelId="{11ACBB73-A6BE-44BD-9539-090916A304DD}" type="presOf" srcId="{706F1A2B-7998-4A24-9CE9-337E4D891DA4}" destId="{E70F3DDC-8B52-4C14-8109-7573AC1C972A}" srcOrd="0" destOrd="0" presId="urn:microsoft.com/office/officeart/2005/8/layout/list1"/>
    <dgm:cxn modelId="{8395D48D-3244-40D8-B2EE-73D29D27148B}" srcId="{4249C065-1D23-45EA-839A-4CE80B47A8A5}" destId="{9B41B855-C033-4EF7-A1BD-D9914571F348}" srcOrd="0" destOrd="0" parTransId="{D43D36E3-70F2-430F-853D-AC607CB98C95}" sibTransId="{CD4F6D24-B7F3-42CA-AA1E-A8F7CF07AA92}"/>
    <dgm:cxn modelId="{5B01F09D-831B-40F6-8E62-E2DB41357452}" type="presOf" srcId="{C9D34693-0229-44B4-81B9-21408BE22707}" destId="{FA1BA3F8-5AED-4F30-B3C0-55C5C38C0FA0}" srcOrd="0" destOrd="0" presId="urn:microsoft.com/office/officeart/2005/8/layout/list1"/>
    <dgm:cxn modelId="{3A4E3BAA-BEC3-4999-8A49-E9F75D8E7389}" type="presOf" srcId="{C7ADE189-6835-41A6-90AD-FE17F17B88F7}" destId="{E70F3DDC-8B52-4C14-8109-7573AC1C972A}" srcOrd="0" destOrd="2" presId="urn:microsoft.com/office/officeart/2005/8/layout/list1"/>
    <dgm:cxn modelId="{736D88CE-7DD9-4B3F-A46D-42E89F03021D}" type="presOf" srcId="{EA15424F-A4E0-45C5-88FC-E6D0946C428C}" destId="{E70F3DDC-8B52-4C14-8109-7573AC1C972A}" srcOrd="0" destOrd="1" presId="urn:microsoft.com/office/officeart/2005/8/layout/list1"/>
    <dgm:cxn modelId="{9048A1D4-66D1-4931-93F4-ECD99EA4C1A2}" type="presOf" srcId="{966D755C-4097-4049-AF14-531CC5264C36}" destId="{CD482387-2F30-46B1-99E9-E0EEC0A9A104}" srcOrd="0" destOrd="0" presId="urn:microsoft.com/office/officeart/2005/8/layout/list1"/>
    <dgm:cxn modelId="{0AFA1ADD-EAA4-46F1-9B48-F6AC26F38607}" type="presOf" srcId="{BAC4AA60-594A-403C-8DCD-66BA15CE97D6}" destId="{CD482387-2F30-46B1-99E9-E0EEC0A9A104}" srcOrd="0" destOrd="2" presId="urn:microsoft.com/office/officeart/2005/8/layout/list1"/>
    <dgm:cxn modelId="{96CEE9E2-7A87-4CBA-AC4B-6CBE14966B27}" srcId="{C9D34693-0229-44B4-81B9-21408BE22707}" destId="{EA15424F-A4E0-45C5-88FC-E6D0946C428C}" srcOrd="1" destOrd="0" parTransId="{04DF8EAE-2A8C-4DBD-A542-72D7904F5AD9}" sibTransId="{BFFEEE62-1E8A-44DB-95A4-5A376C77A0E2}"/>
    <dgm:cxn modelId="{13A3F9EF-7247-46BC-B745-811E0E2331E0}" type="presOf" srcId="{C9D34693-0229-44B4-81B9-21408BE22707}" destId="{6E78701B-3853-4C0D-8C8D-9D507EFF4768}" srcOrd="1" destOrd="0" presId="urn:microsoft.com/office/officeart/2005/8/layout/list1"/>
    <dgm:cxn modelId="{5AEBEAF0-C80F-4743-94AC-DB15D4DAB3AD}" srcId="{4249C065-1D23-45EA-839A-4CE80B47A8A5}" destId="{778BC973-6B45-4D69-91D7-7078BF8D2565}" srcOrd="2" destOrd="0" parTransId="{A3E0CD7C-8E8C-4BB2-89FC-D7058942867F}" sibTransId="{048D2DC8-61B9-4AB4-8F1D-509661F8CE6E}"/>
    <dgm:cxn modelId="{1B6A81DF-1C22-4185-914B-4B48BF62D031}" type="presParOf" srcId="{237294FA-7810-4D6D-9824-1041746CEC41}" destId="{EAC72ADB-650E-4D19-81ED-E96095E8B547}" srcOrd="0" destOrd="0" presId="urn:microsoft.com/office/officeart/2005/8/layout/list1"/>
    <dgm:cxn modelId="{01067004-E5ED-4D35-AD58-B7120355E95B}" type="presParOf" srcId="{EAC72ADB-650E-4D19-81ED-E96095E8B547}" destId="{60F19E82-B1E6-4FCB-8F32-9E8E7F2B7F40}" srcOrd="0" destOrd="0" presId="urn:microsoft.com/office/officeart/2005/8/layout/list1"/>
    <dgm:cxn modelId="{126621BB-F560-4476-BC2E-4A750878F180}" type="presParOf" srcId="{EAC72ADB-650E-4D19-81ED-E96095E8B547}" destId="{4E02171A-A339-402D-B6F5-DA96C81C6DF5}" srcOrd="1" destOrd="0" presId="urn:microsoft.com/office/officeart/2005/8/layout/list1"/>
    <dgm:cxn modelId="{1D9890A8-7CC6-47AB-8C03-086FA359DAC7}" type="presParOf" srcId="{237294FA-7810-4D6D-9824-1041746CEC41}" destId="{D09F1751-462A-45D9-BEFC-988C382F84E5}" srcOrd="1" destOrd="0" presId="urn:microsoft.com/office/officeart/2005/8/layout/list1"/>
    <dgm:cxn modelId="{4884AC0C-BEA7-4DB1-8C5E-C63F48FFDAFB}" type="presParOf" srcId="{237294FA-7810-4D6D-9824-1041746CEC41}" destId="{6DD7ED8A-B7F0-432A-B87D-F53EC72676FC}" srcOrd="2" destOrd="0" presId="urn:microsoft.com/office/officeart/2005/8/layout/list1"/>
    <dgm:cxn modelId="{3D3C378F-FE9D-46E9-88BA-9182CEB0B7FB}" type="presParOf" srcId="{237294FA-7810-4D6D-9824-1041746CEC41}" destId="{8CCC6C76-EB5F-4D2C-9A42-E0D5F2E58C5E}" srcOrd="3" destOrd="0" presId="urn:microsoft.com/office/officeart/2005/8/layout/list1"/>
    <dgm:cxn modelId="{2820AB81-DDE0-487D-972D-F8AA0438B9DB}" type="presParOf" srcId="{237294FA-7810-4D6D-9824-1041746CEC41}" destId="{BE0A4DD1-E178-4E2D-A844-57C62678A502}" srcOrd="4" destOrd="0" presId="urn:microsoft.com/office/officeart/2005/8/layout/list1"/>
    <dgm:cxn modelId="{4F21902D-B3DC-4B96-B6A8-19FCF6E1739A}" type="presParOf" srcId="{BE0A4DD1-E178-4E2D-A844-57C62678A502}" destId="{FA1BA3F8-5AED-4F30-B3C0-55C5C38C0FA0}" srcOrd="0" destOrd="0" presId="urn:microsoft.com/office/officeart/2005/8/layout/list1"/>
    <dgm:cxn modelId="{B13400D7-386D-4B91-85EF-6077F9081757}" type="presParOf" srcId="{BE0A4DD1-E178-4E2D-A844-57C62678A502}" destId="{6E78701B-3853-4C0D-8C8D-9D507EFF4768}" srcOrd="1" destOrd="0" presId="urn:microsoft.com/office/officeart/2005/8/layout/list1"/>
    <dgm:cxn modelId="{B4C4841D-FE7A-423D-985B-B2A8706A27E5}" type="presParOf" srcId="{237294FA-7810-4D6D-9824-1041746CEC41}" destId="{700760D0-AF15-459A-947B-596D99E4B1A1}" srcOrd="5" destOrd="0" presId="urn:microsoft.com/office/officeart/2005/8/layout/list1"/>
    <dgm:cxn modelId="{7AC7DF0D-477D-468E-BE77-D7246E74AE03}" type="presParOf" srcId="{237294FA-7810-4D6D-9824-1041746CEC41}" destId="{E70F3DDC-8B52-4C14-8109-7573AC1C972A}" srcOrd="6" destOrd="0" presId="urn:microsoft.com/office/officeart/2005/8/layout/list1"/>
    <dgm:cxn modelId="{27F68CA1-4488-4299-8E06-6BACEB47F2AF}" type="presParOf" srcId="{237294FA-7810-4D6D-9824-1041746CEC41}" destId="{0121C589-D1B5-4212-826C-7D46782B848F}" srcOrd="7" destOrd="0" presId="urn:microsoft.com/office/officeart/2005/8/layout/list1"/>
    <dgm:cxn modelId="{B786B462-EDB3-4EE2-A8FB-83EAA4FDE9B8}" type="presParOf" srcId="{237294FA-7810-4D6D-9824-1041746CEC41}" destId="{FFAA81AA-CD60-45E9-A2BE-7DBAEE2551F3}" srcOrd="8" destOrd="0" presId="urn:microsoft.com/office/officeart/2005/8/layout/list1"/>
    <dgm:cxn modelId="{4FBCF6FA-66B6-4667-8D8D-6BECF3D83D30}" type="presParOf" srcId="{FFAA81AA-CD60-45E9-A2BE-7DBAEE2551F3}" destId="{54F6E89D-64B9-4EAB-A90A-53754F9A1675}" srcOrd="0" destOrd="0" presId="urn:microsoft.com/office/officeart/2005/8/layout/list1"/>
    <dgm:cxn modelId="{0C459AA2-9893-48B0-B198-5790FEDA84FC}" type="presParOf" srcId="{FFAA81AA-CD60-45E9-A2BE-7DBAEE2551F3}" destId="{8B20BAF0-C0A3-4522-A28C-FFF326AB9121}" srcOrd="1" destOrd="0" presId="urn:microsoft.com/office/officeart/2005/8/layout/list1"/>
    <dgm:cxn modelId="{6FB793A1-2603-4664-8524-CFC22441B5DA}" type="presParOf" srcId="{237294FA-7810-4D6D-9824-1041746CEC41}" destId="{A0C4C313-BB8A-4527-AA50-789F7D22F2C1}" srcOrd="9" destOrd="0" presId="urn:microsoft.com/office/officeart/2005/8/layout/list1"/>
    <dgm:cxn modelId="{BF18EED1-99F7-473E-8B11-EF821C20AB9C}" type="presParOf" srcId="{237294FA-7810-4D6D-9824-1041746CEC41}" destId="{CD482387-2F30-46B1-99E9-E0EEC0A9A10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7ED8A-B7F0-432A-B87D-F53EC72676FC}">
      <dsp:nvSpPr>
        <dsp:cNvPr id="0" name=""/>
        <dsp:cNvSpPr/>
      </dsp:nvSpPr>
      <dsp:spPr>
        <a:xfrm>
          <a:off x="0" y="338070"/>
          <a:ext cx="10515600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Regular: Wednesday to Friday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Maybe Saturday if delayed or for extra “chunks” (Improvised if demanded)</a:t>
          </a:r>
        </a:p>
      </dsp:txBody>
      <dsp:txXfrm>
        <a:off x="0" y="338070"/>
        <a:ext cx="10515600" cy="1048950"/>
      </dsp:txXfrm>
    </dsp:sp>
    <dsp:sp modelId="{4E02171A-A339-402D-B6F5-DA96C81C6DF5}">
      <dsp:nvSpPr>
        <dsp:cNvPr id="0" name=""/>
        <dsp:cNvSpPr/>
      </dsp:nvSpPr>
      <dsp:spPr>
        <a:xfrm>
          <a:off x="525780" y="72390"/>
          <a:ext cx="73609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Dates: </a:t>
          </a:r>
        </a:p>
      </dsp:txBody>
      <dsp:txXfrm>
        <a:off x="551719" y="98329"/>
        <a:ext cx="7309042" cy="479482"/>
      </dsp:txXfrm>
    </dsp:sp>
    <dsp:sp modelId="{E70F3DDC-8B52-4C14-8109-7573AC1C972A}">
      <dsp:nvSpPr>
        <dsp:cNvPr id="0" name=""/>
        <dsp:cNvSpPr/>
      </dsp:nvSpPr>
      <dsp:spPr>
        <a:xfrm>
          <a:off x="0" y="1749900"/>
          <a:ext cx="105156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Start at 09:30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Lunchbreak 12:30 – 13:30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Finish: ~16:30</a:t>
          </a:r>
        </a:p>
      </dsp:txBody>
      <dsp:txXfrm>
        <a:off x="0" y="1749900"/>
        <a:ext cx="10515600" cy="1360800"/>
      </dsp:txXfrm>
    </dsp:sp>
    <dsp:sp modelId="{6E78701B-3853-4C0D-8C8D-9D507EFF4768}">
      <dsp:nvSpPr>
        <dsp:cNvPr id="0" name=""/>
        <dsp:cNvSpPr/>
      </dsp:nvSpPr>
      <dsp:spPr>
        <a:xfrm>
          <a:off x="525780" y="1484220"/>
          <a:ext cx="73609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Times: </a:t>
          </a:r>
        </a:p>
      </dsp:txBody>
      <dsp:txXfrm>
        <a:off x="551719" y="1510159"/>
        <a:ext cx="7309042" cy="479482"/>
      </dsp:txXfrm>
    </dsp:sp>
    <dsp:sp modelId="{CD482387-2F30-46B1-99E9-E0EEC0A9A104}">
      <dsp:nvSpPr>
        <dsp:cNvPr id="0" name=""/>
        <dsp:cNvSpPr/>
      </dsp:nvSpPr>
      <dsp:spPr>
        <a:xfrm>
          <a:off x="0" y="3473580"/>
          <a:ext cx="105156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74904" rIns="81612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15-minute lectures (Chunks) with 45-minute practice sessions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3 chunks before and 3 after lunch </a:t>
          </a:r>
          <a:r>
            <a:rPr lang="en-US" sz="1800" kern="1200">
              <a:sym typeface="Wingdings" panose="05000000000000000000" pitchFamily="2" charset="2"/>
            </a:rPr>
            <a:t></a:t>
          </a:r>
          <a:r>
            <a:rPr lang="en-US" sz="1800" kern="1200"/>
            <a:t> 18 chunks in total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Exception: Now</a:t>
          </a:r>
        </a:p>
      </dsp:txBody>
      <dsp:txXfrm>
        <a:off x="0" y="3473580"/>
        <a:ext cx="10515600" cy="1360800"/>
      </dsp:txXfrm>
    </dsp:sp>
    <dsp:sp modelId="{8B20BAF0-C0A3-4522-A28C-FFF326AB9121}">
      <dsp:nvSpPr>
        <dsp:cNvPr id="0" name=""/>
        <dsp:cNvSpPr/>
      </dsp:nvSpPr>
      <dsp:spPr>
        <a:xfrm>
          <a:off x="525780" y="3207900"/>
          <a:ext cx="7360920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Lecturing type:</a:t>
          </a:r>
        </a:p>
      </dsp:txBody>
      <dsp:txXfrm>
        <a:off x="551719" y="3233839"/>
        <a:ext cx="7309042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Go with the flow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erwähnen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ich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bezahlt</a:t>
            </a:r>
            <a:r>
              <a:rPr lang="en-US" dirty="0"/>
              <a:t> </a:t>
            </a:r>
            <a:r>
              <a:rPr lang="en-US" dirty="0" err="1"/>
              <a:t>werde</a:t>
            </a:r>
            <a:r>
              <a:rPr lang="en-US" dirty="0"/>
              <a:t>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382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4465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6690-87BE-2A62-8488-8F80E328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1B760-E2C9-E44A-C9AB-66655D696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0F62C-4D40-5CCD-98A8-A83E008EE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0889-43DA-D322-6891-AA3DF55DC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8937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in German, but we will manage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228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059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YouTube Style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127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Tiobe</a:t>
            </a:r>
            <a:r>
              <a:rPr lang="en-US" dirty="0"/>
              <a:t> Index: Complicated calculation</a:t>
            </a:r>
          </a:p>
          <a:p>
            <a:r>
              <a:rPr lang="en-US" dirty="0" err="1"/>
              <a:t>Pypl</a:t>
            </a:r>
            <a:r>
              <a:rPr lang="en-US" dirty="0"/>
              <a:t> Index: Popularity based on web searches (Here Data for Germany)</a:t>
            </a:r>
          </a:p>
          <a:p>
            <a:r>
              <a:rPr lang="en-US" dirty="0"/>
              <a:t>Anecdote on Python helping me in applications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497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466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462D-0A0C-4CD4-C6B6-5AAEE7D7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394215-17D2-C991-BB5A-82CE231D1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1CDD5B-6FB8-989D-BE7C-A9E0C348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264D54-428B-35E7-1B1A-1DA43BC49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536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9FF8E-0D01-7609-4497-6DB0343C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4809D9-3627-C2BB-54EF-4A65EF56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9AA1043-70BC-6B47-3A3B-A593C9900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0E259F-110A-617C-966C-ACD7191C0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onathan.bollig@uni-jena.d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erik.prenzel@uni-jena.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hyperlink" Target="mailto:hinrich.dirksen@uni-jena.d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philipp.janzen@uni-jena.d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hyperlink" Target="mailto:Verena.menhofer@uni-jena.d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bes.fh-muenster.de/apps/live-votings/XETR2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C99E153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96FED83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275" y="1600200"/>
            <a:ext cx="944545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br>
              <a:rPr lang="en-US" noProof="0" dirty="0"/>
            </a:br>
            <a:r>
              <a:rPr lang="en-US" b="1" noProof="0" dirty="0"/>
              <a:t>Chunk 1: Introduction &amp; Setup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57240"/>
            <a:ext cx="9144000" cy="1655762"/>
          </a:xfrm>
        </p:spPr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51CFC-1D21-4497-6A27-7190D65B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Background &amp; About 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3B0E58-0247-CC0D-FAF1-6C07DEF24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6436" cy="4351338"/>
          </a:xfrm>
        </p:spPr>
        <p:txBody>
          <a:bodyPr/>
          <a:lstStyle/>
          <a:p>
            <a:r>
              <a:rPr lang="en-US" noProof="0" dirty="0">
                <a:hlinkClick r:id="rId3"/>
              </a:rPr>
              <a:t>jonathan.bollig@uni-jena.de</a:t>
            </a:r>
            <a:endParaRPr lang="en-US" noProof="0" dirty="0"/>
          </a:p>
          <a:p>
            <a:r>
              <a:rPr lang="en-US" noProof="0" dirty="0"/>
              <a:t>Master: Physics &amp; Photonics</a:t>
            </a:r>
          </a:p>
          <a:p>
            <a:r>
              <a:rPr lang="en-US" noProof="0" dirty="0"/>
              <a:t> Bachelor: Physics in Jena</a:t>
            </a:r>
          </a:p>
          <a:p>
            <a:r>
              <a:rPr lang="en-US" noProof="0" dirty="0"/>
              <a:t>Self-taught Python with YouTube before studying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Super useful in physics</a:t>
            </a:r>
          </a:p>
          <a:p>
            <a:r>
              <a:rPr lang="en-US" dirty="0">
                <a:sym typeface="Wingdings" panose="05000000000000000000" pitchFamily="2" charset="2"/>
              </a:rPr>
              <a:t>Tried to convince all my friends</a:t>
            </a:r>
          </a:p>
          <a:p>
            <a:r>
              <a:rPr lang="en-US" dirty="0">
                <a:sym typeface="Wingdings" panose="05000000000000000000" pitchFamily="2" charset="2"/>
              </a:rPr>
              <a:t>Now a course for everyone else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First time, let’s see how it goes </a:t>
            </a:r>
          </a:p>
          <a:p>
            <a:pPr marL="457200" lvl="1" indent="0">
              <a:buNone/>
            </a:pPr>
            <a:endParaRPr lang="en-US" noProof="0" dirty="0">
              <a:sym typeface="Wingdings" panose="05000000000000000000" pitchFamily="2" charset="2"/>
            </a:endParaRPr>
          </a:p>
          <a:p>
            <a:pPr lvl="1"/>
            <a:endParaRPr lang="en-US" noProof="0" dirty="0"/>
          </a:p>
        </p:txBody>
      </p:sp>
      <p:pic>
        <p:nvPicPr>
          <p:cNvPr id="5" name="Grafik 4" descr="Ein Bild, das draußen, Schiff, Boot, Himmel enthält.&#10;&#10;KI-generierte Inhalte können fehlerhaft sein.">
            <a:extLst>
              <a:ext uri="{FF2B5EF4-FFF2-40B4-BE49-F238E27FC236}">
                <a16:creationId xmlns:a16="http://schemas.microsoft.com/office/drawing/2014/main" id="{BD7F6025-A85F-51DF-C111-59882EA01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12062" b="25132"/>
          <a:stretch>
            <a:fillRect/>
          </a:stretch>
        </p:blipFill>
        <p:spPr>
          <a:xfrm>
            <a:off x="8284464" y="152260"/>
            <a:ext cx="2825496" cy="3008326"/>
          </a:xfrm>
          <a:prstGeom prst="rect">
            <a:avLst/>
          </a:prstGeom>
        </p:spPr>
      </p:pic>
      <p:pic>
        <p:nvPicPr>
          <p:cNvPr id="7" name="Grafik 6" descr="Ein Bild, das Text, Menschliches Gesicht, Kleidung, Mann enthält.&#10;&#10;KI-generierte Inhalte können fehlerhaft sein.">
            <a:extLst>
              <a:ext uri="{FF2B5EF4-FFF2-40B4-BE49-F238E27FC236}">
                <a16:creationId xmlns:a16="http://schemas.microsoft.com/office/drawing/2014/main" id="{188D65C0-D9BE-A6F8-6646-B166A0384B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562" y="3559302"/>
            <a:ext cx="3006090" cy="300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9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26903BF-A7F6-BE1F-4F88-48271E8F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799" y="1158949"/>
            <a:ext cx="5461225" cy="1118087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Tutors 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EEEEB7B0-F416-D9F7-D311-628CB7AB6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99" y="2563907"/>
            <a:ext cx="5461225" cy="297619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19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Erik Prenzel </a:t>
            </a:r>
            <a:r>
              <a:rPr lang="en-US" sz="19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US" sz="1900" noProof="0" dirty="0">
                <a:solidFill>
                  <a:schemeClr val="tx1">
                    <a:lumMod val="65000"/>
                    <a:lumOff val="35000"/>
                  </a:schemeClr>
                </a:solidFill>
                <a:hlinkClick r:id="rId3"/>
              </a:rPr>
              <a:t>erik.prenzel@uni-jena.de</a:t>
            </a:r>
            <a:r>
              <a:rPr lang="en-US" sz="19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lvl="1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Student in Physics Master</a:t>
            </a:r>
          </a:p>
          <a:p>
            <a:pPr lvl="1"/>
            <a:r>
              <a:rPr lang="en-US" sz="18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Friend of Jonathan</a:t>
            </a:r>
          </a:p>
          <a:p>
            <a:pPr lvl="1"/>
            <a:r>
              <a:rPr lang="en-US" sz="1800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Learned Python during my studies, 100% worth it</a:t>
            </a:r>
          </a:p>
          <a:p>
            <a:pPr lvl="1"/>
            <a:endParaRPr lang="en-US" sz="18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1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Hinrich Dirksen </a:t>
            </a:r>
            <a:r>
              <a:rPr lang="en-GB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en-GB" sz="19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hinrich.dirksen@uni-jena.de</a:t>
            </a:r>
            <a:r>
              <a:rPr lang="en-GB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lvl="1"/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Currently pursuing my experimental physics master thesis </a:t>
            </a:r>
          </a:p>
          <a:p>
            <a:pPr lvl="1"/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 use Python everyday from data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analysis+vis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to small simulations and automations in the lab</a:t>
            </a:r>
          </a:p>
          <a:p>
            <a:pPr lvl="1"/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3x better code since GitHub copilot arrived</a:t>
            </a:r>
            <a:endParaRPr lang="en-US" sz="18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sz="1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A person holding a cup and a umbrella&#10;&#10;AI-generated content may be incorrect.">
            <a:extLst>
              <a:ext uri="{FF2B5EF4-FFF2-40B4-BE49-F238E27FC236}">
                <a16:creationId xmlns:a16="http://schemas.microsoft.com/office/drawing/2014/main" id="{7F972153-4B6E-9CBA-0AB8-7C209D5C3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87" r="2" b="30953"/>
          <a:stretch>
            <a:fillRect/>
          </a:stretch>
        </p:blipFill>
        <p:spPr>
          <a:xfrm>
            <a:off x="8779933" y="685798"/>
            <a:ext cx="2726267" cy="2421467"/>
          </a:xfrm>
          <a:prstGeom prst="rect">
            <a:avLst/>
          </a:prstGeom>
        </p:spPr>
      </p:pic>
      <p:pic>
        <p:nvPicPr>
          <p:cNvPr id="6" name="Picture 5" descr="A person lying on the ground with his legs crossed&#10;&#10;AI-generated content may be incorrect.">
            <a:extLst>
              <a:ext uri="{FF2B5EF4-FFF2-40B4-BE49-F238E27FC236}">
                <a16:creationId xmlns:a16="http://schemas.microsoft.com/office/drawing/2014/main" id="{B1277DE5-E34C-B3C8-6B90-69DFD2843A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9" r="5" b="6360"/>
          <a:stretch>
            <a:fillRect/>
          </a:stretch>
        </p:blipFill>
        <p:spPr>
          <a:xfrm>
            <a:off x="8779933" y="3750732"/>
            <a:ext cx="2726267" cy="24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6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6B07F-C506-88E9-1CA4-EB3DC059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C94B1A-BE4E-F562-8432-00DB1E064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799" y="1158949"/>
            <a:ext cx="5461225" cy="1118087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Tutors</a:t>
            </a:r>
          </a:p>
        </p:txBody>
      </p:sp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CA4C6B7F-6361-6FDA-0D8A-7BBDBDAA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99" y="2563907"/>
            <a:ext cx="5461225" cy="2976191"/>
          </a:xfrm>
        </p:spPr>
        <p:txBody>
          <a:bodyPr anchor="t">
            <a:normAutofit/>
          </a:bodyPr>
          <a:lstStyle/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Philipp Janzen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3"/>
              </a:rPr>
              <a:t>philipp.janzen@uni-jena.de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Physics Master‘s student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Friend of Jonathan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Learned Python during my studies</a:t>
            </a:r>
          </a:p>
          <a:p>
            <a:pPr marL="457200" lvl="1" indent="0">
              <a:buNone/>
            </a:pPr>
            <a:endParaRPr lang="en-US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Verena </a:t>
            </a:r>
            <a:r>
              <a:rPr lang="en-GB" sz="16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Menhofer</a:t>
            </a: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(v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erena.menhofer@uni-jena.de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Physics Master‘s student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Another friend of Jonathan 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Started learning Python with YouTube, but mostly learnt as needed during studies</a:t>
            </a:r>
            <a:endParaRPr lang="en-US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 descr="A person sitting on a stone ledge&#10;&#10;AI-generated content may be incorrect.">
            <a:extLst>
              <a:ext uri="{FF2B5EF4-FFF2-40B4-BE49-F238E27FC236}">
                <a16:creationId xmlns:a16="http://schemas.microsoft.com/office/drawing/2014/main" id="{BA341251-DAA3-5E9D-129C-1B2C0038C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4" r="5" b="17694"/>
          <a:stretch>
            <a:fillRect/>
          </a:stretch>
        </p:blipFill>
        <p:spPr>
          <a:xfrm>
            <a:off x="8779933" y="685798"/>
            <a:ext cx="2726267" cy="2421467"/>
          </a:xfrm>
          <a:prstGeom prst="rect">
            <a:avLst/>
          </a:prstGeom>
        </p:spPr>
      </p:pic>
      <p:pic>
        <p:nvPicPr>
          <p:cNvPr id="8" name="Picture 7" descr="A person lying in a hammock&#10;&#10;AI-generated content may be incorrect.">
            <a:extLst>
              <a:ext uri="{FF2B5EF4-FFF2-40B4-BE49-F238E27FC236}">
                <a16:creationId xmlns:a16="http://schemas.microsoft.com/office/drawing/2014/main" id="{D52FD8C9-90B5-C075-E0F3-9A2195FF49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07" r="6" b="6"/>
          <a:stretch>
            <a:fillRect/>
          </a:stretch>
        </p:blipFill>
        <p:spPr>
          <a:xfrm>
            <a:off x="8779933" y="3750732"/>
            <a:ext cx="2726267" cy="242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56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774F8-2673-7049-4BB0-783ED8BD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noProof="0" dirty="0"/>
              <a:t>About You: </a:t>
            </a:r>
            <a:br>
              <a:rPr lang="en-US" noProof="0" dirty="0"/>
            </a:br>
            <a:r>
              <a:rPr lang="en-US" dirty="0"/>
              <a:t>(Experimental) </a:t>
            </a:r>
            <a:r>
              <a:rPr lang="en-US" dirty="0" err="1"/>
              <a:t>Questionare</a:t>
            </a:r>
            <a:endParaRPr lang="en-US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7F985A-F858-DACA-53BD-4F162A205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t"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hlinkClick r:id="rId3"/>
            </a:endParaRPr>
          </a:p>
          <a:p>
            <a:pPr marL="0" indent="0" algn="ctr">
              <a:buNone/>
            </a:pPr>
            <a:r>
              <a:rPr lang="en-US" dirty="0">
                <a:hlinkClick r:id="rId3"/>
              </a:rPr>
              <a:t>https://vibes.fh-muenster.de/apps/live-votings/XETR2/</a:t>
            </a:r>
            <a:r>
              <a:rPr lang="en-US" dirty="0"/>
              <a:t> </a:t>
            </a:r>
            <a:endParaRPr lang="en-US" noProof="0" dirty="0"/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3374D0-E3F6-894D-5935-6CAFCEECA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86" y="1840093"/>
            <a:ext cx="3448027" cy="34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9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CD386F-59C6-F67B-7DCD-F1BC663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Times and Dates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52A6B061-18D4-66EF-A90F-32DA4BEE22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053094"/>
              </p:ext>
            </p:extLst>
          </p:nvPr>
        </p:nvGraphicFramePr>
        <p:xfrm>
          <a:off x="838200" y="1586104"/>
          <a:ext cx="10515600" cy="4906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632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CEC020-67CE-83BA-52A4-53DB4E73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General Information – Lecturing Type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763ED7-8DD3-93DC-2F3B-D6B7FEB3B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US" b="1" noProof="0" dirty="0"/>
              <a:t>15 Minute Lectures:</a:t>
            </a:r>
            <a:r>
              <a:rPr lang="en-US" noProof="0" dirty="0"/>
              <a:t> Concise introductions to topics</a:t>
            </a:r>
          </a:p>
          <a:p>
            <a:pPr lvl="1"/>
            <a:r>
              <a:rPr lang="en-US" dirty="0"/>
              <a:t>YouTube tutorial style</a:t>
            </a:r>
            <a:endParaRPr lang="en-US" noProof="0" dirty="0"/>
          </a:p>
          <a:p>
            <a:pPr lvl="1"/>
            <a:r>
              <a:rPr lang="en-US" noProof="0" dirty="0"/>
              <a:t>PDFs are uploaded</a:t>
            </a:r>
          </a:p>
          <a:p>
            <a:r>
              <a:rPr lang="en-US" b="1" noProof="0" dirty="0"/>
              <a:t>45 Minute self practice:</a:t>
            </a:r>
          </a:p>
          <a:p>
            <a:pPr lvl="1"/>
            <a:r>
              <a:rPr lang="en-US" noProof="0" dirty="0"/>
              <a:t>Usage of </a:t>
            </a:r>
            <a:r>
              <a:rPr lang="en-US" noProof="0" dirty="0" err="1"/>
              <a:t>Jupyter</a:t>
            </a:r>
            <a:r>
              <a:rPr lang="en-US" noProof="0" dirty="0"/>
              <a:t> Notebooks: Tasks and solutions in one place.</a:t>
            </a:r>
          </a:p>
          <a:p>
            <a:pPr lvl="1"/>
            <a:r>
              <a:rPr lang="en-US" noProof="0" dirty="0"/>
              <a:t>Easy, medium and advanced tasks</a:t>
            </a:r>
          </a:p>
          <a:p>
            <a:r>
              <a:rPr lang="en-US" noProof="0" dirty="0"/>
              <a:t>Generally: </a:t>
            </a:r>
          </a:p>
          <a:p>
            <a:pPr lvl="1"/>
            <a:r>
              <a:rPr lang="en-US" noProof="0" dirty="0"/>
              <a:t>Come and Go whenever you like</a:t>
            </a:r>
          </a:p>
          <a:p>
            <a:pPr lvl="1"/>
            <a:r>
              <a:rPr lang="en-US" dirty="0"/>
              <a:t>Ask Questions directly (Maybe everyone is wondering the same)</a:t>
            </a:r>
          </a:p>
          <a:p>
            <a:pPr lvl="1"/>
            <a:r>
              <a:rPr lang="en-US" b="1" noProof="0" dirty="0"/>
              <a:t>ALL</a:t>
            </a:r>
            <a:r>
              <a:rPr lang="en-US" noProof="0" dirty="0"/>
              <a:t> Slides etc. are shared </a:t>
            </a:r>
            <a:r>
              <a:rPr lang="en-US" noProof="0" dirty="0">
                <a:sym typeface="Wingdings" panose="05000000000000000000" pitchFamily="2" charset="2"/>
              </a:rPr>
              <a:t>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544279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0CB61D-ECBB-25DD-17DA-9649B76D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Why Coding?</a:t>
            </a:r>
            <a:endParaRPr lang="de-DE" sz="40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BA87-039D-D5A7-8D93-25B1EDB98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Data Analysis</a:t>
            </a:r>
          </a:p>
          <a:p>
            <a:r>
              <a:rPr lang="fr-FR" sz="2400" dirty="0" err="1"/>
              <a:t>Visualization</a:t>
            </a:r>
            <a:endParaRPr lang="en-US" sz="2400" dirty="0"/>
          </a:p>
          <a:p>
            <a:r>
              <a:rPr lang="en-US" sz="2400" dirty="0"/>
              <a:t>Simulations</a:t>
            </a:r>
          </a:p>
          <a:p>
            <a:r>
              <a:rPr lang="en-US" sz="2400" dirty="0"/>
              <a:t>Automation</a:t>
            </a:r>
          </a:p>
          <a:p>
            <a:r>
              <a:rPr lang="en-US" sz="2400" dirty="0"/>
              <a:t>Machine Learning</a:t>
            </a:r>
          </a:p>
          <a:p>
            <a:r>
              <a:rPr lang="en-US" sz="2400" dirty="0"/>
              <a:t>…</a:t>
            </a:r>
          </a:p>
          <a:p>
            <a:endParaRPr lang="de-DE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915EE11-6E85-2B24-A1A4-2B7B78D15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9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B4686-D66D-085E-58BD-3268260F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Own 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42771F-DF04-1174-3FF8-EF82B9BFC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Experiment (UV-Experiment)</a:t>
            </a:r>
          </a:p>
          <a:p>
            <a:r>
              <a:rPr lang="de-DE" dirty="0"/>
              <a:t>Data Analysis </a:t>
            </a:r>
            <a:r>
              <a:rPr lang="de-DE" dirty="0" err="1"/>
              <a:t>from</a:t>
            </a:r>
            <a:r>
              <a:rPr lang="de-DE" dirty="0"/>
              <a:t> Lab (</a:t>
            </a:r>
            <a:r>
              <a:rPr lang="de-DE" dirty="0" err="1"/>
              <a:t>Oszi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Experimental </a:t>
            </a:r>
            <a:r>
              <a:rPr lang="de-DE" dirty="0" err="1"/>
              <a:t>Optics</a:t>
            </a:r>
            <a:r>
              <a:rPr lang="de-DE" dirty="0"/>
              <a:t>)</a:t>
            </a:r>
          </a:p>
          <a:p>
            <a:r>
              <a:rPr lang="de-DE" dirty="0"/>
              <a:t>Irgendeine Simulation (vielleicht von PCQM)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5805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292C6-36F2-EE1B-CE24-71213F4F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E3EC33-0879-A7FD-D5AB-59D7A4D98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54"/>
            <a:ext cx="10852230" cy="4351338"/>
          </a:xfrm>
        </p:spPr>
        <p:txBody>
          <a:bodyPr/>
          <a:lstStyle/>
          <a:p>
            <a:r>
              <a:rPr lang="en-US" dirty="0"/>
              <a:t>Most popular programming language world-wide </a:t>
            </a:r>
          </a:p>
          <a:p>
            <a:pPr lvl="1"/>
            <a:r>
              <a:rPr lang="en-US" dirty="0"/>
              <a:t>Web Development, AI / LLM, Data Science</a:t>
            </a:r>
          </a:p>
          <a:p>
            <a:r>
              <a:rPr lang="en-US" dirty="0"/>
              <a:t>Popular in the scientific community (anecdotal evidence)</a:t>
            </a:r>
          </a:p>
          <a:p>
            <a:r>
              <a:rPr lang="en-US" dirty="0"/>
              <a:t>Open Source / Free</a:t>
            </a:r>
          </a:p>
          <a:p>
            <a:r>
              <a:rPr lang="en-US" dirty="0"/>
              <a:t>Easy to learn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23C385B-7E28-BEEE-C51C-4DDF31CD4C47}"/>
              </a:ext>
            </a:extLst>
          </p:cNvPr>
          <p:cNvSpPr txBox="1"/>
          <p:nvPr/>
        </p:nvSpPr>
        <p:spPr>
          <a:xfrm>
            <a:off x="838200" y="5938877"/>
            <a:ext cx="2408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[https://pypl.github.io/PYPL.html]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E13FA21-7C06-78B1-28D9-CC4E14D22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976" y="4200790"/>
            <a:ext cx="5036824" cy="162763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BE4B3A-1C55-7B28-1B9C-1A427B555E20}"/>
              </a:ext>
            </a:extLst>
          </p:cNvPr>
          <p:cNvSpPr txBox="1"/>
          <p:nvPr/>
        </p:nvSpPr>
        <p:spPr>
          <a:xfrm>
            <a:off x="6464831" y="5938877"/>
            <a:ext cx="26493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[https://www.tiobe.com/tiobe-index/]</a:t>
            </a:r>
            <a:endParaRPr lang="de-DE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C52B756-268B-B5CF-59FB-405DA9368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99" y="4436641"/>
            <a:ext cx="5562016" cy="129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1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25054-C76E-45A7-4239-2BA56785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to other languages, (dis)advantages of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F7788F-7BB4-2420-6F85-726B9B09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Easy to learn</a:t>
            </a:r>
          </a:p>
          <a:p>
            <a:r>
              <a:rPr lang="en-US" dirty="0"/>
              <a:t>Readable</a:t>
            </a:r>
          </a:p>
          <a:p>
            <a:r>
              <a:rPr lang="en-US" noProof="0" dirty="0"/>
              <a:t>Slow but can be fast</a:t>
            </a:r>
          </a:p>
          <a:p>
            <a:r>
              <a:rPr lang="en-US" noProof="0" dirty="0"/>
              <a:t>Popular</a:t>
            </a:r>
          </a:p>
        </p:txBody>
      </p:sp>
    </p:spTree>
    <p:extLst>
      <p:ext uri="{BB962C8B-B14F-4D97-AF65-F5344CB8AC3E}">
        <p14:creationId xmlns:p14="http://schemas.microsoft.com/office/powerpoint/2010/main" val="25332838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3651F-7B74-DB05-1685-E229EF6B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B8E70D-A568-FBF8-1AA6-CC5310DE9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662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Ability to use python as a tool in everyday (physics) life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Read and write data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Process and clean data 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Visualize data</a:t>
            </a:r>
          </a:p>
          <a:p>
            <a:r>
              <a:rPr lang="en-US" dirty="0">
                <a:sym typeface="Wingdings" panose="05000000000000000000" pitchFamily="2" charset="2"/>
              </a:rPr>
              <a:t>We won’t cover</a:t>
            </a:r>
            <a:endParaRPr lang="de-DE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de-DE" dirty="0">
                <a:sym typeface="Wingdings" panose="05000000000000000000" pitchFamily="2" charset="2"/>
              </a:rPr>
              <a:t>Game Design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de-DE" dirty="0">
                <a:sym typeface="Wingdings" panose="05000000000000000000" pitchFamily="2" charset="2"/>
              </a:rPr>
              <a:t>Webdesign</a:t>
            </a:r>
          </a:p>
          <a:p>
            <a:r>
              <a:rPr lang="de-DE" dirty="0" err="1">
                <a:sym typeface="Wingdings" panose="05000000000000000000" pitchFamily="2" charset="2"/>
              </a:rPr>
              <a:t>What</a:t>
            </a:r>
            <a:r>
              <a:rPr lang="de-DE" dirty="0">
                <a:sym typeface="Wingdings" panose="05000000000000000000" pitchFamily="2" charset="2"/>
              </a:rPr>
              <a:t> I </a:t>
            </a:r>
            <a:r>
              <a:rPr lang="de-DE" dirty="0" err="1">
                <a:sym typeface="Wingdings" panose="05000000000000000000" pitchFamily="2" charset="2"/>
              </a:rPr>
              <a:t>might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cover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future</a:t>
            </a:r>
            <a:r>
              <a:rPr lang="de-DE" dirty="0">
                <a:sym typeface="Wingdings" panose="05000000000000000000" pitchFamily="2" charset="2"/>
              </a:rPr>
              <a:t>: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Recursion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de-DE" dirty="0">
                <a:sym typeface="Wingdings" panose="05000000000000000000" pitchFamily="2" charset="2"/>
              </a:rPr>
              <a:t>Version Control w. </a:t>
            </a:r>
            <a:r>
              <a:rPr lang="de-DE" dirty="0" err="1">
                <a:sym typeface="Wingdings" panose="05000000000000000000" pitchFamily="2" charset="2"/>
              </a:rPr>
              <a:t>Git</a:t>
            </a:r>
            <a:endParaRPr lang="de-DE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de-DE" dirty="0">
                <a:sym typeface="Wingdings" panose="05000000000000000000" pitchFamily="2" charset="2"/>
              </a:rPr>
              <a:t>Pretty Coding / PEP / </a:t>
            </a:r>
            <a:r>
              <a:rPr lang="de-DE" dirty="0" err="1">
                <a:sym typeface="Wingdings" panose="05000000000000000000" pitchFamily="2" charset="2"/>
              </a:rPr>
              <a:t>Typing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Object Oriented Programming</a:t>
            </a:r>
          </a:p>
          <a:p>
            <a:pPr lvl="1">
              <a:buFont typeface="Aptos" panose="020B0004020202020204" pitchFamily="34" charset="0"/>
              <a:buChar char="→"/>
            </a:pPr>
            <a:r>
              <a:rPr lang="en-US" dirty="0">
                <a:sym typeface="Wingdings" panose="05000000000000000000" pitchFamily="2" charset="2"/>
              </a:rPr>
              <a:t>Multithreading / Processing</a:t>
            </a: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5119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1932C9-A21C-7737-76E8-EF46B9BF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a program?</a:t>
            </a:r>
          </a:p>
        </p:txBody>
      </p:sp>
      <p:pic>
        <p:nvPicPr>
          <p:cNvPr id="5" name="Inhaltsplatzhalter 4" descr="Ein Bild, das Entwurf, Lineart, Darstellung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B7D8B75D-471B-2136-CBF8-8B24DDC40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354" y="1825625"/>
            <a:ext cx="2900892" cy="4351338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347A4D4-FE7E-08CF-AD21-E1B7914CBD49}"/>
              </a:ext>
            </a:extLst>
          </p:cNvPr>
          <p:cNvSpPr txBox="1"/>
          <p:nvPr/>
        </p:nvSpPr>
        <p:spPr>
          <a:xfrm>
            <a:off x="2751826" y="6215876"/>
            <a:ext cx="1025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[ChatGPT 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  <a:sym typeface="Wingdings" panose="05000000000000000000" pitchFamily="2" charset="2"/>
              </a:rPr>
              <a:t>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F1D3D10-C7C6-AFB4-0E4C-CCFC3699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603" y="1825625"/>
            <a:ext cx="2733429" cy="127086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F9C47FF-A8C1-1542-9C11-F8546841E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101" y="5252971"/>
            <a:ext cx="1670576" cy="923991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C142555A-9FF6-B9E4-2EE3-364653FDC2EC}"/>
              </a:ext>
            </a:extLst>
          </p:cNvPr>
          <p:cNvGrpSpPr/>
          <p:nvPr/>
        </p:nvGrpSpPr>
        <p:grpSpPr>
          <a:xfrm>
            <a:off x="7875629" y="1825625"/>
            <a:ext cx="2953281" cy="4681270"/>
            <a:chOff x="8227674" y="1690688"/>
            <a:chExt cx="2953281" cy="4681270"/>
          </a:xfrm>
        </p:grpSpPr>
        <p:pic>
          <p:nvPicPr>
            <p:cNvPr id="12" name="Grafik 11" descr="Ein Bild, das Entwurf, Lineart, Darstellung, Zeichnung enthält.&#10;&#10;KI-generierte Inhalte können fehlerhaft sein.">
              <a:extLst>
                <a:ext uri="{FF2B5EF4-FFF2-40B4-BE49-F238E27FC236}">
                  <a16:creationId xmlns:a16="http://schemas.microsoft.com/office/drawing/2014/main" id="{551D80EB-047C-8E3D-10BA-E23DB6DB7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7674" y="1690688"/>
              <a:ext cx="2900892" cy="4351338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A671D272-5EE6-AF33-B79B-B2E41AEBB523}"/>
                </a:ext>
              </a:extLst>
            </p:cNvPr>
            <p:cNvSpPr txBox="1"/>
            <p:nvPr/>
          </p:nvSpPr>
          <p:spPr>
            <a:xfrm>
              <a:off x="10155418" y="6094959"/>
              <a:ext cx="10255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</a:rPr>
                <a:t>[ChatGPT </a:t>
              </a:r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  <a:sym typeface="Wingdings" panose="05000000000000000000" pitchFamily="2" charset="2"/>
                </a:rPr>
                <a:t></a:t>
              </a:r>
              <a:r>
                <a:rPr lang="en-GB" sz="1200" noProof="0" dirty="0">
                  <a:solidFill>
                    <a:schemeClr val="bg2">
                      <a:lumMod val="75000"/>
                    </a:schemeClr>
                  </a:solidFill>
                </a:rPr>
                <a:t>]</a:t>
              </a:r>
            </a:p>
          </p:txBody>
        </p:sp>
      </p:grp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70CEDD9-E093-169F-F488-56E7C55A6442}"/>
              </a:ext>
            </a:extLst>
          </p:cNvPr>
          <p:cNvCxnSpPr>
            <a:cxnSpLocks/>
          </p:cNvCxnSpPr>
          <p:nvPr/>
        </p:nvCxnSpPr>
        <p:spPr>
          <a:xfrm>
            <a:off x="5684650" y="3148060"/>
            <a:ext cx="0" cy="344948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C80D43-B4C6-9002-4308-8939D6AC1755}"/>
              </a:ext>
            </a:extLst>
          </p:cNvPr>
          <p:cNvCxnSpPr>
            <a:cxnSpLocks/>
          </p:cNvCxnSpPr>
          <p:nvPr/>
        </p:nvCxnSpPr>
        <p:spPr>
          <a:xfrm>
            <a:off x="5734942" y="4771120"/>
            <a:ext cx="0" cy="35866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14727B7-FA77-1EC5-6961-AA2386AA6655}"/>
              </a:ext>
            </a:extLst>
          </p:cNvPr>
          <p:cNvSpPr/>
          <p:nvPr/>
        </p:nvSpPr>
        <p:spPr>
          <a:xfrm>
            <a:off x="4466845" y="3682984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Some Magic 🪄</a:t>
            </a:r>
          </a:p>
          <a:p>
            <a:pPr algn="ctr"/>
            <a:r>
              <a:rPr lang="en-GB" sz="1100" noProof="0" dirty="0">
                <a:solidFill>
                  <a:schemeClr val="tx1"/>
                </a:solidFill>
              </a:rPr>
              <a:t>(Beyond our scope, google if interested)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0D1C1EF-BB30-BC1B-6D99-A7FDC5B5566A}"/>
              </a:ext>
            </a:extLst>
          </p:cNvPr>
          <p:cNvCxnSpPr>
            <a:cxnSpLocks/>
          </p:cNvCxnSpPr>
          <p:nvPr/>
        </p:nvCxnSpPr>
        <p:spPr>
          <a:xfrm>
            <a:off x="3868803" y="2431780"/>
            <a:ext cx="323721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5EE2D5B-78C2-402F-3E7B-17D841183AC9}"/>
              </a:ext>
            </a:extLst>
          </p:cNvPr>
          <p:cNvCxnSpPr>
            <a:cxnSpLocks/>
          </p:cNvCxnSpPr>
          <p:nvPr/>
        </p:nvCxnSpPr>
        <p:spPr>
          <a:xfrm>
            <a:off x="7033523" y="5624560"/>
            <a:ext cx="323721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419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14935-7B12-6069-5470-A48654E7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2,5 Ways of Coding in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FE0F96-E5FC-02B1-BFF8-B43CA482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06568" cy="4351338"/>
          </a:xfrm>
        </p:spPr>
        <p:txBody>
          <a:bodyPr/>
          <a:lstStyle/>
          <a:p>
            <a:r>
              <a:rPr lang="en-GB" noProof="0" dirty="0"/>
              <a:t>Skript:</a:t>
            </a:r>
          </a:p>
          <a:p>
            <a:pPr lvl="1"/>
            <a:r>
              <a:rPr lang="en-GB" noProof="0" dirty="0"/>
              <a:t>Starts Python</a:t>
            </a:r>
          </a:p>
          <a:p>
            <a:pPr lvl="1"/>
            <a:r>
              <a:rPr lang="en-GB" noProof="0" dirty="0"/>
              <a:t>Runs Code from first to last line</a:t>
            </a:r>
          </a:p>
          <a:p>
            <a:pPr lvl="1"/>
            <a:r>
              <a:rPr lang="en-GB" noProof="0" dirty="0"/>
              <a:t>Finishes (closes Python) when last line is executed </a:t>
            </a:r>
          </a:p>
          <a:p>
            <a:pPr lvl="1"/>
            <a:r>
              <a:rPr lang="en-GB" dirty="0"/>
              <a:t>After execution: Memory lost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4D5984-4336-57AF-6F98-70D23603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05" y="4792727"/>
            <a:ext cx="2486541" cy="1156080"/>
          </a:xfrm>
          <a:prstGeom prst="rect">
            <a:avLst/>
          </a:prstGeom>
        </p:spPr>
      </p:pic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4935A5-4976-88E4-2B8D-E62E979DB69F}"/>
              </a:ext>
            </a:extLst>
          </p:cNvPr>
          <p:cNvSpPr txBox="1">
            <a:spLocks/>
          </p:cNvSpPr>
          <p:nvPr/>
        </p:nvSpPr>
        <p:spPr>
          <a:xfrm>
            <a:off x="6371844" y="1825625"/>
            <a:ext cx="5306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Interactive:</a:t>
            </a:r>
          </a:p>
          <a:p>
            <a:pPr lvl="1"/>
            <a:r>
              <a:rPr lang="en-GB" noProof="0" dirty="0"/>
              <a:t>Python is started</a:t>
            </a:r>
          </a:p>
          <a:p>
            <a:pPr lvl="1"/>
            <a:r>
              <a:rPr lang="en-GB" noProof="0" dirty="0"/>
              <a:t>Executes commands “on the go”</a:t>
            </a:r>
          </a:p>
          <a:p>
            <a:pPr lvl="1"/>
            <a:r>
              <a:rPr lang="en-GB" noProof="0" dirty="0"/>
              <a:t>Python is manually closed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 Memory maintained</a:t>
            </a:r>
            <a:endParaRPr lang="en-GB" noProof="0" dirty="0"/>
          </a:p>
          <a:p>
            <a:endParaRPr lang="en-GB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8186F58-509D-8A43-1EB0-A88A88CE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492" y="4086924"/>
            <a:ext cx="3117738" cy="209003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B8209FE-45CC-DA36-DC99-D558D0F68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922" y="4971223"/>
            <a:ext cx="1444751" cy="799088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3354490-69C8-B104-F9D3-A9092F12FF27}"/>
              </a:ext>
            </a:extLst>
          </p:cNvPr>
          <p:cNvCxnSpPr>
            <a:cxnSpLocks/>
          </p:cNvCxnSpPr>
          <p:nvPr/>
        </p:nvCxnSpPr>
        <p:spPr>
          <a:xfrm>
            <a:off x="3491484" y="5370767"/>
            <a:ext cx="496100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772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FACBC-0027-576E-7C90-41C79B34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2,5 Ways of Coding in Python: Notebooks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6968F2-1F9C-CD8C-5D71-85E2C0E6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883"/>
            <a:ext cx="5622036" cy="5095241"/>
          </a:xfrm>
        </p:spPr>
        <p:txBody>
          <a:bodyPr>
            <a:normAutofit fontScale="92500"/>
          </a:bodyPr>
          <a:lstStyle/>
          <a:p>
            <a:r>
              <a:rPr lang="en-GB" b="1" noProof="0" dirty="0" err="1"/>
              <a:t>Jupyter</a:t>
            </a:r>
            <a:r>
              <a:rPr lang="en-GB" b="1" noProof="0" dirty="0"/>
              <a:t> Notebooks are interactive, but group code in cells:</a:t>
            </a:r>
          </a:p>
          <a:p>
            <a:r>
              <a:rPr lang="en-GB" noProof="0" dirty="0"/>
              <a:t>Advantages: </a:t>
            </a:r>
          </a:p>
          <a:p>
            <a:pPr lvl="1"/>
            <a:r>
              <a:rPr lang="en-GB" noProof="0" dirty="0"/>
              <a:t>Tasks, Cheat Sheets and place for solving all in one place. </a:t>
            </a:r>
          </a:p>
          <a:p>
            <a:pPr lvl="1"/>
            <a:r>
              <a:rPr lang="en-GB" noProof="0" dirty="0"/>
              <a:t>No extra IDE needed.</a:t>
            </a:r>
          </a:p>
          <a:p>
            <a:r>
              <a:rPr lang="en-GB" noProof="0" dirty="0"/>
              <a:t>Disadvantages:</a:t>
            </a:r>
          </a:p>
          <a:p>
            <a:pPr lvl="1"/>
            <a:r>
              <a:rPr lang="en-GB" noProof="0" dirty="0"/>
              <a:t>Sometimes stuff works, that shouldn’t</a:t>
            </a:r>
          </a:p>
          <a:p>
            <a:pPr lvl="1"/>
            <a:r>
              <a:rPr lang="en-GB" noProof="0" dirty="0"/>
              <a:t>Can promote bad coding practises</a:t>
            </a:r>
          </a:p>
          <a:p>
            <a:r>
              <a:rPr lang="en-GB" noProof="0" dirty="0"/>
              <a:t>In this course: Python + Notebooks treaded as one. At end of course: Introduction to other IDEs</a:t>
            </a:r>
          </a:p>
          <a:p>
            <a:pPr marL="0" indent="0">
              <a:buNone/>
            </a:pPr>
            <a:endParaRPr lang="en-GB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F26A2E-6D81-7B6B-4A09-841080C3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02" y="1619885"/>
            <a:ext cx="4548369" cy="47031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19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C605B-C06C-C4F8-7083-A9796A47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Cells</a:t>
            </a:r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82D430D0-811C-2599-A3AC-EA1E7FB1A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8075"/>
          </a:xfrm>
        </p:spPr>
        <p:txBody>
          <a:bodyPr/>
          <a:lstStyle/>
          <a:p>
            <a:endParaRPr lang="en-US" dirty="0"/>
          </a:p>
          <a:p>
            <a:r>
              <a:rPr lang="de-DE" dirty="0" err="1"/>
              <a:t>Markdown</a:t>
            </a:r>
            <a:r>
              <a:rPr lang="de-DE" dirty="0"/>
              <a:t> Cells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Code Cells</a:t>
            </a:r>
          </a:p>
          <a:p>
            <a:endParaRPr lang="de-DE" dirty="0"/>
          </a:p>
          <a:p>
            <a:r>
              <a:rPr lang="de-DE" dirty="0"/>
              <a:t>Cells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:</a:t>
            </a:r>
          </a:p>
          <a:p>
            <a:pPr lvl="1"/>
            <a:r>
              <a:rPr lang="de-DE" dirty="0" err="1"/>
              <a:t>Moved</a:t>
            </a:r>
            <a:endParaRPr lang="de-DE" dirty="0"/>
          </a:p>
          <a:p>
            <a:pPr lvl="1"/>
            <a:r>
              <a:rPr lang="de-DE" dirty="0"/>
              <a:t>Copy </a:t>
            </a:r>
            <a:r>
              <a:rPr lang="de-DE" dirty="0" err="1"/>
              <a:t>Pasted</a:t>
            </a:r>
            <a:endParaRPr lang="de-DE" dirty="0"/>
          </a:p>
          <a:p>
            <a:pPr lvl="1"/>
            <a:r>
              <a:rPr lang="de-DE" dirty="0"/>
              <a:t>Etc.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863E4BAE-12E1-00C4-5E3F-356004270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96222"/>
            <a:ext cx="4019550" cy="5135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7B68EA7A-F163-3C16-D269-75B141EBA0C6}"/>
              </a:ext>
            </a:extLst>
          </p:cNvPr>
          <p:cNvSpPr/>
          <p:nvPr/>
        </p:nvSpPr>
        <p:spPr>
          <a:xfrm>
            <a:off x="7410450" y="1212669"/>
            <a:ext cx="371475" cy="959031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Geschweifte Klammer links 17">
            <a:extLst>
              <a:ext uri="{FF2B5EF4-FFF2-40B4-BE49-F238E27FC236}">
                <a16:creationId xmlns:a16="http://schemas.microsoft.com/office/drawing/2014/main" id="{A0441DDE-FA38-B450-F553-0E2B5BB80F8A}"/>
              </a:ext>
            </a:extLst>
          </p:cNvPr>
          <p:cNvSpPr/>
          <p:nvPr/>
        </p:nvSpPr>
        <p:spPr>
          <a:xfrm>
            <a:off x="7410450" y="3168733"/>
            <a:ext cx="371475" cy="2384342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C3DD7C3-E155-2263-BD79-B4C8342F3198}"/>
              </a:ext>
            </a:extLst>
          </p:cNvPr>
          <p:cNvCxnSpPr>
            <a:cxnSpLocks/>
          </p:cNvCxnSpPr>
          <p:nvPr/>
        </p:nvCxnSpPr>
        <p:spPr>
          <a:xfrm flipV="1">
            <a:off x="3810000" y="1690688"/>
            <a:ext cx="3400425" cy="86201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37DE337-B278-61CF-90DD-758B9678A9BC}"/>
              </a:ext>
            </a:extLst>
          </p:cNvPr>
          <p:cNvCxnSpPr>
            <a:cxnSpLocks/>
          </p:cNvCxnSpPr>
          <p:nvPr/>
        </p:nvCxnSpPr>
        <p:spPr>
          <a:xfrm>
            <a:off x="3810000" y="2552700"/>
            <a:ext cx="3400425" cy="17526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Geschweifte Klammer links 23">
            <a:extLst>
              <a:ext uri="{FF2B5EF4-FFF2-40B4-BE49-F238E27FC236}">
                <a16:creationId xmlns:a16="http://schemas.microsoft.com/office/drawing/2014/main" id="{87F5ACD8-1B7E-8E70-DE48-872C0D064907}"/>
              </a:ext>
            </a:extLst>
          </p:cNvPr>
          <p:cNvSpPr/>
          <p:nvPr/>
        </p:nvSpPr>
        <p:spPr>
          <a:xfrm>
            <a:off x="7410450" y="5661779"/>
            <a:ext cx="371475" cy="66467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821A620-9131-B74C-81A1-B022C9F9782E}"/>
              </a:ext>
            </a:extLst>
          </p:cNvPr>
          <p:cNvCxnSpPr>
            <a:cxnSpLocks/>
          </p:cNvCxnSpPr>
          <p:nvPr/>
        </p:nvCxnSpPr>
        <p:spPr>
          <a:xfrm>
            <a:off x="3067050" y="4152900"/>
            <a:ext cx="4143375" cy="18002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Geschweifte Klammer links 25">
            <a:extLst>
              <a:ext uri="{FF2B5EF4-FFF2-40B4-BE49-F238E27FC236}">
                <a16:creationId xmlns:a16="http://schemas.microsoft.com/office/drawing/2014/main" id="{8C03FDEB-F8CE-E25A-6E9B-C878D54CDF15}"/>
              </a:ext>
            </a:extLst>
          </p:cNvPr>
          <p:cNvSpPr/>
          <p:nvPr/>
        </p:nvSpPr>
        <p:spPr>
          <a:xfrm>
            <a:off x="7410450" y="2269855"/>
            <a:ext cx="371475" cy="74938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716812B-77CD-2645-4036-A33B455296E8}"/>
              </a:ext>
            </a:extLst>
          </p:cNvPr>
          <p:cNvCxnSpPr>
            <a:cxnSpLocks/>
          </p:cNvCxnSpPr>
          <p:nvPr/>
        </p:nvCxnSpPr>
        <p:spPr>
          <a:xfrm flipV="1">
            <a:off x="3067050" y="2676525"/>
            <a:ext cx="4143375" cy="1466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85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D14E-B9D1-0AC3-DC81-9DEC4730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B3E72-C0F4-D524-91C0-A37835D6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Markdown Cells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724236-A683-6C3A-94A5-E8F57EED5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65" y="1699419"/>
            <a:ext cx="3481583" cy="3567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2343476-9F02-5D8D-C224-EB0A496EF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900" y="1556692"/>
            <a:ext cx="2662408" cy="3710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9FF7CAB-4E8E-5FC4-EF42-842A603270CC}"/>
              </a:ext>
            </a:extLst>
          </p:cNvPr>
          <p:cNvCxnSpPr/>
          <p:nvPr/>
        </p:nvCxnSpPr>
        <p:spPr>
          <a:xfrm>
            <a:off x="5501269" y="3470135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A4D0C90-4AA9-9EE3-7472-18CFF978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098" y="5748390"/>
            <a:ext cx="10515600" cy="614363"/>
          </a:xfrm>
        </p:spPr>
        <p:txBody>
          <a:bodyPr/>
          <a:lstStyle/>
          <a:p>
            <a:r>
              <a:rPr lang="en-US" dirty="0"/>
              <a:t>Execute Cell: Shift + Enter or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F4F9C13-D03E-9502-23B1-53DE36DB3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209" y="5587094"/>
            <a:ext cx="1200318" cy="819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9DA6FDEF-8C78-0E32-2917-CCD99680794E}"/>
              </a:ext>
            </a:extLst>
          </p:cNvPr>
          <p:cNvSpPr/>
          <p:nvPr/>
        </p:nvSpPr>
        <p:spPr>
          <a:xfrm>
            <a:off x="6391898" y="5819716"/>
            <a:ext cx="397853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5205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E754-5E72-1A48-4056-8647BE02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9E1F3-CE3B-E667-B0D2-B4C4EDD2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Live Demo: Code Cells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E41B63C-0863-537D-BAD3-571BC03F4324}"/>
              </a:ext>
            </a:extLst>
          </p:cNvPr>
          <p:cNvCxnSpPr/>
          <p:nvPr/>
        </p:nvCxnSpPr>
        <p:spPr>
          <a:xfrm>
            <a:off x="5521724" y="2355283"/>
            <a:ext cx="804672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6C47DB3-5F59-D33A-C5B9-36E2BFBE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512"/>
            <a:ext cx="10515600" cy="614363"/>
          </a:xfrm>
        </p:spPr>
        <p:txBody>
          <a:bodyPr/>
          <a:lstStyle/>
          <a:p>
            <a:r>
              <a:rPr lang="en-US" dirty="0"/>
              <a:t>Execute Cell: Shift + Enter or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3612F07-EABE-1A02-2C95-D6E9C653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813" y="5711929"/>
            <a:ext cx="1200318" cy="8192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CF4BF9FD-8D71-4A4F-8787-08F71C912BCE}"/>
              </a:ext>
            </a:extLst>
          </p:cNvPr>
          <p:cNvSpPr/>
          <p:nvPr/>
        </p:nvSpPr>
        <p:spPr>
          <a:xfrm>
            <a:off x="5994045" y="5960890"/>
            <a:ext cx="397853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87341D0-DE2B-F9AC-A4AE-FD8A783DF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34" y="1853486"/>
            <a:ext cx="4296375" cy="91452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ECC3670-026C-D814-205A-894FD86B9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131" y="1853486"/>
            <a:ext cx="4782217" cy="1238423"/>
          </a:xfrm>
          <a:prstGeom prst="rect">
            <a:avLst/>
          </a:prstGeom>
        </p:spPr>
      </p:pic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D9F4AD8F-4BDC-2AE0-8609-29E5EB0DF752}"/>
              </a:ext>
            </a:extLst>
          </p:cNvPr>
          <p:cNvSpPr txBox="1">
            <a:spLocks/>
          </p:cNvSpPr>
          <p:nvPr/>
        </p:nvSpPr>
        <p:spPr>
          <a:xfrm>
            <a:off x="935171" y="3178072"/>
            <a:ext cx="10515600" cy="2603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Number indicates execution</a:t>
            </a:r>
          </a:p>
          <a:p>
            <a:r>
              <a:rPr lang="en-US" dirty="0"/>
              <a:t>Errors appear in Red</a:t>
            </a:r>
          </a:p>
          <a:p>
            <a:pPr lvl="1"/>
            <a:r>
              <a:rPr lang="en-US" dirty="0"/>
              <a:t>Pay attention to last line</a:t>
            </a:r>
            <a:endParaRPr lang="de-DE" dirty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C184222A-C566-C6EB-E13E-F8F4F3466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599" y="3535236"/>
            <a:ext cx="6639852" cy="1819529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10AD3319-3526-4B0D-C981-12DD69F7C5C5}"/>
              </a:ext>
            </a:extLst>
          </p:cNvPr>
          <p:cNvSpPr/>
          <p:nvPr/>
        </p:nvSpPr>
        <p:spPr>
          <a:xfrm>
            <a:off x="5994045" y="5000746"/>
            <a:ext cx="4693005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4398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7B0CE-7DC0-819C-F261-F065DA0C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you: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74A43-D253-113D-6F80-1F1390F38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open the file “Tasks_1_2_example_notebook.ipynb” and execute the cells</a:t>
            </a:r>
          </a:p>
          <a:p>
            <a:pPr lvl="1"/>
            <a:r>
              <a:rPr lang="en-US" dirty="0"/>
              <a:t>In case of problems: Ask us</a:t>
            </a:r>
          </a:p>
          <a:p>
            <a:r>
              <a:rPr lang="en-US" dirty="0"/>
              <a:t>Time: 30 Minutes (</a:t>
            </a:r>
            <a:r>
              <a:rPr lang="en-US" dirty="0" err="1"/>
              <a:t>inkl</a:t>
            </a:r>
            <a:r>
              <a:rPr lang="en-US" dirty="0"/>
              <a:t>. Coffee Break)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F106ADC-FBA4-ACF7-7EEE-2246F375288C}"/>
              </a:ext>
            </a:extLst>
          </p:cNvPr>
          <p:cNvGrpSpPr/>
          <p:nvPr/>
        </p:nvGrpSpPr>
        <p:grpSpPr>
          <a:xfrm>
            <a:off x="7105099" y="2169567"/>
            <a:ext cx="1860594" cy="1917801"/>
            <a:chOff x="4777950" y="3719475"/>
            <a:chExt cx="2278875" cy="2278875"/>
          </a:xfrm>
        </p:grpSpPr>
        <p:pic>
          <p:nvPicPr>
            <p:cNvPr id="5" name="Grafik 4" descr="Kaffeebohnen Silhouette">
              <a:extLst>
                <a:ext uri="{FF2B5EF4-FFF2-40B4-BE49-F238E27FC236}">
                  <a16:creationId xmlns:a16="http://schemas.microsoft.com/office/drawing/2014/main" id="{7F8733AF-5082-5E1A-91ED-5339A2C1B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276850" y="4716057"/>
              <a:ext cx="914400" cy="914400"/>
            </a:xfrm>
            <a:prstGeom prst="rect">
              <a:avLst/>
            </a:prstGeom>
          </p:spPr>
        </p:pic>
        <p:pic>
          <p:nvPicPr>
            <p:cNvPr id="7" name="Grafik 6" descr="Kaffee Silhouette">
              <a:extLst>
                <a:ext uri="{FF2B5EF4-FFF2-40B4-BE49-F238E27FC236}">
                  <a16:creationId xmlns:a16="http://schemas.microsoft.com/office/drawing/2014/main" id="{29B55E6C-CFE5-F4C3-85AE-00A407EA5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77950" y="3719475"/>
              <a:ext cx="2278875" cy="2278875"/>
            </a:xfrm>
            <a:prstGeom prst="rect">
              <a:avLst/>
            </a:prstGeom>
          </p:spPr>
        </p:pic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325B4943-B072-D393-0EBA-8BF69475F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960" y="3680956"/>
            <a:ext cx="3882009" cy="281191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6817064-AAD6-E679-0674-E8FD90237499}"/>
              </a:ext>
            </a:extLst>
          </p:cNvPr>
          <p:cNvSpPr txBox="1"/>
          <p:nvPr/>
        </p:nvSpPr>
        <p:spPr>
          <a:xfrm>
            <a:off x="5984072" y="6354375"/>
            <a:ext cx="54510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https://dev.to/codeitbro/15-funniest-and-hilarious-python-coding-memes-2aij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89696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Widescreen</PresentationFormat>
  <Paragraphs>168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</vt:lpstr>
      <vt:lpstr>Python Course for Physicists (And everyone else!)  Chunk 1: Introduction &amp; Setup</vt:lpstr>
      <vt:lpstr>Background &amp; About Me</vt:lpstr>
      <vt:lpstr>The Tutors </vt:lpstr>
      <vt:lpstr>The Tutors</vt:lpstr>
      <vt:lpstr>About You:  (Experimental) Questionare</vt:lpstr>
      <vt:lpstr>General Information – Times and Dates</vt:lpstr>
      <vt:lpstr>General Information – Lecturing Type</vt:lpstr>
      <vt:lpstr>Why Coding?</vt:lpstr>
      <vt:lpstr>Own Examples</vt:lpstr>
      <vt:lpstr>Why Python?</vt:lpstr>
      <vt:lpstr>Comparison to other languages, (dis)advantages of Python</vt:lpstr>
      <vt:lpstr>Learning goals</vt:lpstr>
      <vt:lpstr>What is a program?</vt:lpstr>
      <vt:lpstr>2,5 Ways of Coding in Python</vt:lpstr>
      <vt:lpstr>2,5 Ways of Coding in Python: Notebooks</vt:lpstr>
      <vt:lpstr>Notebook Live Demo: Cells</vt:lpstr>
      <vt:lpstr>Notebook Live Demo: Markdown Cells</vt:lpstr>
      <vt:lpstr>Notebook Live Demo: Code Cells</vt:lpstr>
      <vt:lpstr>Now you: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Erik Prenzel</cp:lastModifiedBy>
  <cp:revision>5</cp:revision>
  <dcterms:created xsi:type="dcterms:W3CDTF">2025-08-17T13:50:44Z</dcterms:created>
  <dcterms:modified xsi:type="dcterms:W3CDTF">2025-10-07T15:10:21Z</dcterms:modified>
</cp:coreProperties>
</file>