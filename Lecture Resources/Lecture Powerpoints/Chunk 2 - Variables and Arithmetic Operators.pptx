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79" r:id="rId4"/>
    <p:sldId id="278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69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73FE7-5F05-449E-91BF-A62A8DD301EB}" v="32" dt="2025-10-01T23:37:39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55" d="100"/>
          <a:sy n="55" d="100"/>
        </p:scale>
        <p:origin x="10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People who have basic experience in Python, this will be a little boring. </a:t>
            </a:r>
          </a:p>
          <a:p>
            <a:r>
              <a:rPr lang="en-US" dirty="0"/>
              <a:t>But important, to get everyone on the same page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41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477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look at the last line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2111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Mathematical Wrong Statement works semantically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7457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on collapsing Cells (to remove the summary)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598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br>
              <a:rPr lang="en-US" noProof="0" dirty="0"/>
            </a:br>
            <a:r>
              <a:rPr lang="en-US" b="1" noProof="0" dirty="0"/>
              <a:t>Chunk 2: Variables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8646"/>
            <a:ext cx="9144000" cy="1655762"/>
          </a:xfrm>
        </p:spPr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3FA72-E98C-300A-2AC3-CB33018D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Text Output – Printing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F5C1D7-583E-DCFE-433C-E54A59C5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6749" cy="4351338"/>
          </a:xfrm>
        </p:spPr>
        <p:txBody>
          <a:bodyPr/>
          <a:lstStyle/>
          <a:p>
            <a:r>
              <a:rPr lang="en-US" dirty="0"/>
              <a:t>Print Statement: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Print Numbers: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Saving Data into Memory:</a:t>
            </a:r>
            <a:br>
              <a:rPr lang="en-US" dirty="0"/>
            </a:br>
            <a:r>
              <a:rPr lang="en-US" dirty="0"/>
              <a:t>Variables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3E4D8F-98E9-F545-A82E-F833A30A3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039" y="1690688"/>
            <a:ext cx="3100083" cy="682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7829158-7E18-F9F8-3145-A5283E123E71}"/>
              </a:ext>
            </a:extLst>
          </p:cNvPr>
          <p:cNvCxnSpPr/>
          <p:nvPr/>
        </p:nvCxnSpPr>
        <p:spPr>
          <a:xfrm>
            <a:off x="7269314" y="2019832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EF60FBC-E467-B8D1-2236-450515492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000" y="1447972"/>
            <a:ext cx="3100082" cy="1143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4A07214-53CA-0EB3-30F1-AF0EE527B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264" y="3085238"/>
            <a:ext cx="2086946" cy="758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5BD2B1C-B5F1-2A7A-866C-364F34466B49}"/>
              </a:ext>
            </a:extLst>
          </p:cNvPr>
          <p:cNvCxnSpPr/>
          <p:nvPr/>
        </p:nvCxnSpPr>
        <p:spPr>
          <a:xfrm>
            <a:off x="7226851" y="3554479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" name="Grafik 16">
            <a:extLst>
              <a:ext uri="{FF2B5EF4-FFF2-40B4-BE49-F238E27FC236}">
                <a16:creationId xmlns:a16="http://schemas.microsoft.com/office/drawing/2014/main" id="{62F68DB7-98CA-22B6-91AB-716192CD50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58"/>
          <a:stretch>
            <a:fillRect/>
          </a:stretch>
        </p:blipFill>
        <p:spPr>
          <a:xfrm>
            <a:off x="8779795" y="3085238"/>
            <a:ext cx="2086945" cy="1014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0CA82AF-3863-00F5-B622-12B18F659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3431" y="4484476"/>
            <a:ext cx="4149836" cy="16599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494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34ECE-57DB-0DAB-8188-E06DF59A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Comments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595D40-B969-9669-C8D5-764502F8C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 don’t get executed </a:t>
            </a:r>
            <a:r>
              <a:rPr lang="en-US" dirty="0">
                <a:sym typeface="Wingdings" panose="05000000000000000000" pitchFamily="2" charset="2"/>
              </a:rPr>
              <a:t> Ignored by the program</a:t>
            </a:r>
          </a:p>
          <a:p>
            <a:r>
              <a:rPr lang="en-US" dirty="0">
                <a:sym typeface="Wingdings" panose="05000000000000000000" pitchFamily="2" charset="2"/>
              </a:rPr>
              <a:t>Single line comment: </a:t>
            </a:r>
            <a:r>
              <a:rPr lang="en-US" dirty="0">
                <a:highlight>
                  <a:srgbClr val="808080"/>
                </a:highlight>
                <a:sym typeface="Wingdings" panose="05000000000000000000" pitchFamily="2" charset="2"/>
              </a:rPr>
              <a:t>#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Can be at end of line (inline)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Multiline comment: </a:t>
            </a:r>
            <a:r>
              <a:rPr lang="en-US" dirty="0">
                <a:highlight>
                  <a:srgbClr val="808080"/>
                </a:highlight>
                <a:sym typeface="Wingdings" panose="05000000000000000000" pitchFamily="2" charset="2"/>
              </a:rPr>
              <a:t>""" … """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780357E-1A13-135E-DB9A-EAD939954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537" y="2467732"/>
            <a:ext cx="4410056" cy="1418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F80AA20-93D4-563E-C7F6-0CD7E6504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537" y="4365946"/>
            <a:ext cx="2118952" cy="20861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853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5C6DA-8658-35A8-8036-BC17ED41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Names: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31BAF5-437E-68D6-B42E-36B45D761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alphanumeric + “_”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a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tree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house99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tree_house1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  <a:p>
            <a:pPr lvl="1"/>
            <a:r>
              <a:rPr lang="en-US" dirty="0"/>
              <a:t>First character cannot be number </a:t>
            </a:r>
            <a:r>
              <a:rPr lang="en-US" dirty="0">
                <a:sym typeface="Wingdings" panose="05000000000000000000" pitchFamily="2" charset="2"/>
              </a:rPr>
              <a:t> Forbidden: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1house</a:t>
            </a:r>
          </a:p>
          <a:p>
            <a:r>
              <a:rPr lang="de-DE" dirty="0"/>
              <a:t>Reserved Keywords (</a:t>
            </a:r>
            <a:r>
              <a:rPr lang="de-DE" dirty="0" err="1"/>
              <a:t>don‘t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):</a:t>
            </a:r>
            <a:br>
              <a:rPr lang="de-DE" dirty="0"/>
            </a:b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ChatGPT:</a:t>
            </a:r>
            <a:br>
              <a:rPr lang="de-DE" dirty="0"/>
            </a:b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False, None, True, and, as, assert, async, await, break, case, class, continue, def, del, </a:t>
            </a:r>
            <a:r>
              <a:rPr lang="en-GB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elif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else, except, finally, for, from, global, if, import, in, is, lambda, match, nonlocal, not, or, pass, raise, return, try, while, with, yield</a:t>
            </a:r>
          </a:p>
          <a:p>
            <a:r>
              <a:rPr lang="en-GB" dirty="0"/>
              <a:t>DON’T: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03AE92-1B35-949C-E7A0-D8E727DB0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933" y="4774009"/>
            <a:ext cx="2506035" cy="1537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615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3FA2C-2A1D-0A32-B3DF-9D37FE9E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difference:                                         &amp;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EC9643-9C3C-5A5C-2F7E-464DCF9B0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 Different “types” of Data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C5B6BAB-2627-83B4-3B7C-C374C2F1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226" y="585708"/>
            <a:ext cx="4155543" cy="83110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EAA1E3F-A672-06FA-F90D-C8E737F96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027" y="585708"/>
            <a:ext cx="784936" cy="83110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A55AD83-437D-21F3-EE34-60617C9ECF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3904"/>
          <a:stretch>
            <a:fillRect/>
          </a:stretch>
        </p:blipFill>
        <p:spPr>
          <a:xfrm>
            <a:off x="1586456" y="2533725"/>
            <a:ext cx="8697539" cy="192774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D9C6C91-3EC3-D5DD-291A-A87AEFC30B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7738"/>
          <a:stretch>
            <a:fillRect/>
          </a:stretch>
        </p:blipFill>
        <p:spPr>
          <a:xfrm>
            <a:off x="1586455" y="4578830"/>
            <a:ext cx="8697539" cy="218565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18011108-EAE4-A275-0A16-B642D40704D3}"/>
              </a:ext>
            </a:extLst>
          </p:cNvPr>
          <p:cNvSpPr/>
          <p:nvPr/>
        </p:nvSpPr>
        <p:spPr>
          <a:xfrm>
            <a:off x="8740088" y="4686228"/>
            <a:ext cx="1205052" cy="42199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14D8CCE-3557-0CBE-AB35-21F4C588860C}"/>
              </a:ext>
            </a:extLst>
          </p:cNvPr>
          <p:cNvSpPr txBox="1"/>
          <p:nvPr/>
        </p:nvSpPr>
        <p:spPr>
          <a:xfrm>
            <a:off x="10397449" y="4461469"/>
            <a:ext cx="167137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Btw. complex numbers are noted by “j”:</a:t>
            </a:r>
          </a:p>
          <a:p>
            <a:r>
              <a:rPr lang="en-US" dirty="0"/>
              <a:t>X = 4j 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019B27F-4D5B-57F9-9DCB-2940D4BD737D}"/>
              </a:ext>
            </a:extLst>
          </p:cNvPr>
          <p:cNvSpPr txBox="1"/>
          <p:nvPr/>
        </p:nvSpPr>
        <p:spPr>
          <a:xfrm>
            <a:off x="9247420" y="2971154"/>
            <a:ext cx="178483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Single or Double Quotes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293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C13A6555-531A-2ADA-D647-0D9459D9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What’s the difference:                                         &amp;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B7E8AE-A8A2-7DBA-F29C-3C4149CC9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226" y="585708"/>
            <a:ext cx="4155543" cy="83110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3B670D8-3095-CF2A-CED3-F23ACBDFB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026" y="585708"/>
            <a:ext cx="842223" cy="89176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07189CF-54D6-3E43-336F-62F68078F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828" y="2009363"/>
            <a:ext cx="4382112" cy="340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3D40F3F-9141-19C2-B96B-B80FB5885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804" y="2730833"/>
            <a:ext cx="2346445" cy="2346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296950F-44D0-7F1A-EC74-A8685185796D}"/>
              </a:ext>
            </a:extLst>
          </p:cNvPr>
          <p:cNvCxnSpPr/>
          <p:nvPr/>
        </p:nvCxnSpPr>
        <p:spPr>
          <a:xfrm>
            <a:off x="6289536" y="3840590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5A57062A-3CE9-DEAD-81E9-14CF7F46DA7B}"/>
              </a:ext>
            </a:extLst>
          </p:cNvPr>
          <p:cNvSpPr txBox="1"/>
          <p:nvPr/>
        </p:nvSpPr>
        <p:spPr>
          <a:xfrm>
            <a:off x="1731114" y="6100793"/>
            <a:ext cx="7553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Separating print arguments by “,” prints them with a Whitespace </a:t>
            </a:r>
            <a:r>
              <a:rPr lang="en-US" dirty="0" err="1"/>
              <a:t>inbetween</a:t>
            </a:r>
            <a:endParaRPr lang="de-DE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A84E87D-EFB4-D2C4-8A5D-BACE775DE691}"/>
              </a:ext>
            </a:extLst>
          </p:cNvPr>
          <p:cNvCxnSpPr>
            <a:cxnSpLocks/>
          </p:cNvCxnSpPr>
          <p:nvPr/>
        </p:nvCxnSpPr>
        <p:spPr>
          <a:xfrm flipH="1" flipV="1">
            <a:off x="3515711" y="5735284"/>
            <a:ext cx="134006" cy="318675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3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323CD0-6A66-DAFE-2D83-296D82F2A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Reassignment / Memory / Restarting Kernel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24F9F5-277C-D386-EF5E-76BB60B6D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Reassignment: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Memory:                                                                                       </a:t>
            </a:r>
            <a:r>
              <a:rPr lang="en-GB" dirty="0"/>
              <a:t>⚡</a:t>
            </a:r>
          </a:p>
          <a:p>
            <a:pPr marL="0" indent="0">
              <a:buNone/>
            </a:pPr>
            <a:endParaRPr lang="en-US" dirty="0"/>
          </a:p>
          <a:p>
            <a:r>
              <a:rPr lang="de-DE" dirty="0" err="1"/>
              <a:t>Restarting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kernel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Delete Memory</a:t>
            </a:r>
            <a:r>
              <a:rPr lang="de-DE" dirty="0"/>
              <a:t>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6FDE3D5-76BF-9092-53D9-6449BC060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620" y="1325047"/>
            <a:ext cx="3953427" cy="1876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FDB8572-E43F-CF8C-8128-E8A49F795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025" y="3514584"/>
            <a:ext cx="1534070" cy="1170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8CDDF7D-125F-AE61-5658-F841A7D78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856" y="3607911"/>
            <a:ext cx="1560477" cy="984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6E7E81C-8B62-E75D-E4A1-4C93705885B1}"/>
              </a:ext>
            </a:extLst>
          </p:cNvPr>
          <p:cNvCxnSpPr/>
          <p:nvPr/>
        </p:nvCxnSpPr>
        <p:spPr>
          <a:xfrm>
            <a:off x="4887316" y="4099953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05101E5-3ED3-C2A7-C027-1F8B4B27EB14}"/>
              </a:ext>
            </a:extLst>
          </p:cNvPr>
          <p:cNvCxnSpPr/>
          <p:nvPr/>
        </p:nvCxnSpPr>
        <p:spPr>
          <a:xfrm>
            <a:off x="7721489" y="4099953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108D46A4-E8F4-928C-E57A-5F067EF29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0907" y="4624036"/>
            <a:ext cx="4086795" cy="1028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CB1FD1BF-A8F0-645C-E782-CF6E6B4833BA}"/>
              </a:ext>
            </a:extLst>
          </p:cNvPr>
          <p:cNvSpPr/>
          <p:nvPr/>
        </p:nvSpPr>
        <p:spPr>
          <a:xfrm>
            <a:off x="10026934" y="4992658"/>
            <a:ext cx="343622" cy="29159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664B0FEC-8D8F-63DB-A641-8B184DD7E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279" y="5351984"/>
            <a:ext cx="5941148" cy="1301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FD560D27-8F6A-ADFF-CF9D-8203C7C98CF3}"/>
              </a:ext>
            </a:extLst>
          </p:cNvPr>
          <p:cNvSpPr/>
          <p:nvPr/>
        </p:nvSpPr>
        <p:spPr>
          <a:xfrm>
            <a:off x="1970354" y="6514306"/>
            <a:ext cx="1818398" cy="1888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430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CBD481-0074-09AF-8B7C-16F8D706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Arithmetic Operators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5D3317-ECEE-3E57-39B7-BD06280FC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987821"/>
            <a:ext cx="10515600" cy="4351338"/>
          </a:xfrm>
        </p:spPr>
        <p:txBody>
          <a:bodyPr/>
          <a:lstStyle/>
          <a:p>
            <a:r>
              <a:rPr lang="en-US" dirty="0"/>
              <a:t>Example with Integers: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Adding to itself possible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 with Strings:</a:t>
            </a:r>
          </a:p>
          <a:p>
            <a:endParaRPr lang="en-US" dirty="0"/>
          </a:p>
          <a:p>
            <a:endParaRPr lang="en-US" dirty="0"/>
          </a:p>
          <a:p>
            <a:r>
              <a:rPr lang="de-DE" dirty="0" err="1"/>
              <a:t>Multiplying</a:t>
            </a:r>
            <a:r>
              <a:rPr lang="de-DE" dirty="0"/>
              <a:t> a String: 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B422CF8-67CD-D647-62EB-765EE67FC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406" y="1497880"/>
            <a:ext cx="1039744" cy="1632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9149754-45B3-C001-976F-A39BDAFE3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6" y="3314733"/>
            <a:ext cx="1319061" cy="13731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704010C-3AFB-4981-979E-99EA1D5B8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950" y="4984987"/>
            <a:ext cx="2490891" cy="1382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3AE58E7-5EDC-B6BF-969B-2A5F5E68E7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9411" y="1497881"/>
            <a:ext cx="1191033" cy="1632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823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B112D-0CCE-4420-5959-5817AA3E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Operators: Complete List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60838-75B4-AB49-16E6-40B2B2BFD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BE6B2F9-D324-C0BF-D945-D905F54A9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486025"/>
            <a:ext cx="12192001" cy="249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0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B6E5F-7D74-E045-EAB9-5858784D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Conversion: Type Parsing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1A6E1C-7C3C-E266-7519-55CC4030A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type of (unknown) variable: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Converting the Type: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C8EEEE-A2D0-37F4-0A28-92F84A23B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05" y="1490618"/>
            <a:ext cx="2141633" cy="10255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FA8B062-956B-D5D7-3B46-5395C6E7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964" y="4073135"/>
            <a:ext cx="2076536" cy="2238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63BC8E6-B85D-AD0F-6DCA-06FC1E7AA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654" y="4232684"/>
            <a:ext cx="1495575" cy="2011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E676E71-ADC7-23ED-A200-449B2EAFE0DD}"/>
              </a:ext>
            </a:extLst>
          </p:cNvPr>
          <p:cNvCxnSpPr/>
          <p:nvPr/>
        </p:nvCxnSpPr>
        <p:spPr>
          <a:xfrm>
            <a:off x="4399986" y="5238557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52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9C9C1-FBC9-4C51-6EC6-5A0ED9C28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F4BF10-4960-9DA4-6B87-92E09829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Type Conversion: Type Parsing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B64C34-38FE-5E3C-B01E-93CF0D894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Why is this useful?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Concatenate string and int: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Type Parsing int  str fixes the problem: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A lot of type parsing happens automatically: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9FB3A71-CC1C-240E-C809-7A5A5F8EB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55" y="3470003"/>
            <a:ext cx="4336019" cy="1062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1EA46B8-E8EE-02F3-08AA-12ABDFF22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238" y="1364367"/>
            <a:ext cx="5721994" cy="1812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F70CD7B-DE89-6198-1DC4-FAF3A5457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807" y="4758592"/>
            <a:ext cx="2330713" cy="1753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076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A0B5F-607C-4C36-ECF8-BBF9DF9A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Some notes on solving task sheets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723FE-AE4A-BC31-F8DA-B479D4E84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Splitting into second room</a:t>
            </a:r>
          </a:p>
          <a:p>
            <a:r>
              <a:rPr lang="en-US" noProof="0" dirty="0"/>
              <a:t>If you get stuck:</a:t>
            </a:r>
          </a:p>
          <a:p>
            <a:pPr lvl="1"/>
            <a:r>
              <a:rPr lang="en-US" noProof="0" dirty="0"/>
              <a:t>Try yourself again</a:t>
            </a:r>
          </a:p>
          <a:p>
            <a:pPr lvl="1"/>
            <a:r>
              <a:rPr lang="en-US" dirty="0"/>
              <a:t>Ask your neighbor</a:t>
            </a:r>
          </a:p>
          <a:p>
            <a:pPr lvl="1"/>
            <a:r>
              <a:rPr lang="en-US" noProof="0" dirty="0"/>
              <a:t>Ask assistants</a:t>
            </a:r>
          </a:p>
          <a:p>
            <a:pPr lvl="1"/>
            <a:r>
              <a:rPr lang="en-US" dirty="0"/>
              <a:t>If busy: Ask google (</a:t>
            </a:r>
            <a:r>
              <a:rPr lang="en-US" dirty="0" err="1"/>
              <a:t>Stackoverflow</a:t>
            </a:r>
            <a:r>
              <a:rPr lang="en-US" dirty="0"/>
              <a:t> &lt;3) </a:t>
            </a:r>
            <a:endParaRPr lang="en-US" noProof="0" dirty="0"/>
          </a:p>
          <a:p>
            <a:pPr lvl="2"/>
            <a:r>
              <a:rPr lang="en-US" noProof="0" dirty="0"/>
              <a:t>(Maybe) ask LLM (ChatGPT / Perplexity / Copilot)</a:t>
            </a:r>
          </a:p>
          <a:p>
            <a:pPr lvl="1"/>
            <a:r>
              <a:rPr lang="en-US" dirty="0"/>
              <a:t>Look into solution file</a:t>
            </a:r>
            <a:endParaRPr lang="en-US" noProof="0" dirty="0"/>
          </a:p>
          <a:p>
            <a:r>
              <a:rPr lang="en-US" noProof="0" dirty="0"/>
              <a:t>Struggling and debugging are 90% of a coders work</a:t>
            </a:r>
          </a:p>
          <a:p>
            <a:pPr lvl="1"/>
            <a:endParaRPr lang="en-US" noProof="0" dirty="0"/>
          </a:p>
        </p:txBody>
      </p:sp>
      <p:pic>
        <p:nvPicPr>
          <p:cNvPr id="5" name="Grafik 4" descr="Ein Bild, das Text, Schwimmbecken, Wasser, draußen enthält.&#10;&#10;KI-generierte Inhalte können fehlerhaft sein.">
            <a:extLst>
              <a:ext uri="{FF2B5EF4-FFF2-40B4-BE49-F238E27FC236}">
                <a16:creationId xmlns:a16="http://schemas.microsoft.com/office/drawing/2014/main" id="{8940D89A-9A83-A2B5-4D4D-F92B36E0B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165" y="3397741"/>
            <a:ext cx="2268474" cy="292066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453407F-FED7-F832-22CA-05390A5AC030}"/>
              </a:ext>
            </a:extLst>
          </p:cNvPr>
          <p:cNvSpPr txBox="1"/>
          <p:nvPr/>
        </p:nvSpPr>
        <p:spPr>
          <a:xfrm>
            <a:off x="9987778" y="6318401"/>
            <a:ext cx="1687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[Programmerhumor.io]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Grafik 7" descr="Ein Bild, das Text, Screenshot, Diagramm, Kreis enthält.&#10;&#10;KI-generierte Inhalte können fehlerhaft sein.">
            <a:extLst>
              <a:ext uri="{FF2B5EF4-FFF2-40B4-BE49-F238E27FC236}">
                <a16:creationId xmlns:a16="http://schemas.microsoft.com/office/drawing/2014/main" id="{1A93E30B-395D-2F8A-FAF8-2374D54C6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0" r="11329"/>
          <a:stretch>
            <a:fillRect/>
          </a:stretch>
        </p:blipFill>
        <p:spPr>
          <a:xfrm>
            <a:off x="8986845" y="226519"/>
            <a:ext cx="2822631" cy="275255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048013B-D3D4-9DD6-10CF-DB86C4AFBFF0}"/>
              </a:ext>
            </a:extLst>
          </p:cNvPr>
          <p:cNvSpPr txBox="1"/>
          <p:nvPr/>
        </p:nvSpPr>
        <p:spPr>
          <a:xfrm>
            <a:off x="10103602" y="2957780"/>
            <a:ext cx="1814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[Deleted User on Reddit]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1C6A5DA-6E82-C41B-CB13-F5E6793006A5}"/>
              </a:ext>
            </a:extLst>
          </p:cNvPr>
          <p:cNvSpPr txBox="1">
            <a:spLocks/>
          </p:cNvSpPr>
          <p:nvPr/>
        </p:nvSpPr>
        <p:spPr>
          <a:xfrm>
            <a:off x="1159243" y="53032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Good Luck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Office PowerPoint</Application>
  <PresentationFormat>Widescreen</PresentationFormat>
  <Paragraphs>85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</vt:lpstr>
      <vt:lpstr>Python Course for Physicists  Chunk 2: Variables</vt:lpstr>
      <vt:lpstr>Live Coding: Text Output – Printing</vt:lpstr>
      <vt:lpstr>Live Coding: Comments</vt:lpstr>
      <vt:lpstr>Variables Names:</vt:lpstr>
      <vt:lpstr>What’s the difference:                                         &amp;</vt:lpstr>
      <vt:lpstr>What’s the difference:                                         &amp;</vt:lpstr>
      <vt:lpstr>Reassignment / Memory / Restarting Kernel</vt:lpstr>
      <vt:lpstr>Live Coding: Arithmetic Operators</vt:lpstr>
      <vt:lpstr>Arithmetic Operators: Complete List</vt:lpstr>
      <vt:lpstr>Type Conversion: Type Parsing</vt:lpstr>
      <vt:lpstr>Live Coding: Type Conversion: Type Parsing</vt:lpstr>
      <vt:lpstr>Some notes on solving task sheets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Erik Prenzel</cp:lastModifiedBy>
  <cp:revision>4</cp:revision>
  <dcterms:created xsi:type="dcterms:W3CDTF">2025-08-17T13:50:44Z</dcterms:created>
  <dcterms:modified xsi:type="dcterms:W3CDTF">2025-10-07T15:11:17Z</dcterms:modified>
</cp:coreProperties>
</file>